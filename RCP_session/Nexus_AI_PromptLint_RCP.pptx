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8" r:id="rId18"/>
    <p:sldId id="279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9"/>
  </p:normalViewPr>
  <p:slideViewPr>
    <p:cSldViewPr snapToGrid="0" snapToObjects="1">
      <p:cViewPr varScale="1">
        <p:scale>
          <a:sx n="146" d="100"/>
          <a:sy n="146" d="100"/>
        </p:scale>
        <p:origin x="4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2103120"/>
            <a:ext cx="941832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Nexus AI &amp; Studio, and PromptLint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D6"/>
                </a:solidFill>
                <a:latin typeface="Calibri"/>
              </a:defRPr>
            </a:pPr>
            <a:r>
              <a:t>AI Engineering at dbCLM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94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B74D"/>
                </a:solidFill>
                <a:latin typeface="Calibri"/>
              </a:defRPr>
            </a:pPr>
            <a:r>
              <a:t>Java &amp; Kotlin Native, Spring Boot Powered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Akshay Dipta, Senior Engineer, CLM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RCP Engineering Session  |  Deutsche Bank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 +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3657600" cy="36576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4D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Building a new AI agent took 18 to 24 hours of boilerplate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Every team reimplementing auth, retry, model config from scratch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No prompt quality gates, bad prompts reached production silently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No observability, no audit trail of what the AI decided and why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No control over LLM integration, locked into library defaults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17320"/>
            <a:ext cx="36576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What if a new agent took 1 hour, not 24?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What if a 12-agent pipeline was expressible in 20 lines of code?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What if observability, auth, and DB-driven prompts were built in by default?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What if prompt quality was enforced in CI, like code linting?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What if you could see your agents execute live, click any node, inspect state?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What's Inside Nexus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97B"/>
                </a:solidFill>
                <a:latin typeface="Calibri"/>
              </a:defRPr>
            </a:pPr>
            <a:r>
              <a:t>Core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B74D"/>
                </a:solidFill>
                <a:latin typeface="Calibri"/>
              </a:defRPr>
            </a:pPr>
            <a:r>
              <a:t>Listeners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D6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383280" cy="100584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500" b="1">
                <a:solidFill>
                  <a:srgbClr val="00C97B"/>
                </a:solidFill>
                <a:latin typeface="Calibri"/>
              </a:defRPr>
            </a:pPr>
            <a:r>
              <a:t>Custom Chat Models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Full control beyond LangChain4j defaults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100584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500" b="1">
                <a:solidFill>
                  <a:srgbClr val="FFB74D"/>
                </a:solidFill>
                <a:latin typeface="Calibri"/>
              </a:defRPr>
            </a:pPr>
            <a:r>
              <a:t>AgentExecution Listener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Logs every LLM input/output to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920240"/>
            <a:ext cx="3383280" cy="100584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500" b="1">
                <a:solidFill>
                  <a:srgbClr val="0096D6"/>
                </a:solidFill>
                <a:latin typeface="Calibri"/>
              </a:defRPr>
            </a:pPr>
            <a:r>
              <a:t>Bank Authentication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Custom WIF → Azure → JWT 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3383280" cy="100584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500" b="1">
                <a:solidFill>
                  <a:srgbClr val="00C97B"/>
                </a:solidFill>
                <a:latin typeface="Calibri"/>
              </a:defRPr>
            </a:pPr>
            <a:r>
              <a:t>Custom Serialization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Supports framework-specific object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108960"/>
            <a:ext cx="3383280" cy="100584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500" b="1">
                <a:solidFill>
                  <a:srgbClr val="FFB74D"/>
                </a:solidFill>
                <a:latin typeface="Calibri"/>
              </a:defRPr>
            </a:pPr>
            <a:r>
              <a:t>Observability Listener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Correlation IDs for Splunk &amp; Langfuse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108960"/>
            <a:ext cx="3383280" cy="100584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500" b="1">
                <a:solidFill>
                  <a:srgbClr val="0096D6"/>
                </a:solidFill>
                <a:latin typeface="Calibri"/>
              </a:defRPr>
            </a:pPr>
            <a:r>
              <a:t>Rate Limiter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Custom per-model rate limiting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3383280" cy="100584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500" b="1">
                <a:solidFill>
                  <a:srgbClr val="00C97B"/>
                </a:solidFill>
                <a:latin typeface="Calibri"/>
              </a:defRPr>
            </a:pPr>
            <a:r>
              <a:t>Auto Checkpoints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Persists graph state to DB automatically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297680"/>
            <a:ext cx="3383280" cy="100584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500" b="1">
                <a:solidFill>
                  <a:srgbClr val="FFB74D"/>
                </a:solidFill>
                <a:latin typeface="Calibri"/>
              </a:defRPr>
            </a:pPr>
            <a:r>
              <a:t>Token Usage Listener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Tracks token consumption per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297680"/>
            <a:ext cx="3383280" cy="100584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500" b="1">
                <a:solidFill>
                  <a:srgbClr val="0096D6"/>
                </a:solidFill>
                <a:latin typeface="Calibri"/>
              </a:defRPr>
            </a:pPr>
            <a:r>
              <a:t>Table Access API</a:t>
            </a:r>
          </a:p>
          <a:p>
            <a:pPr>
              <a:spcBef>
                <a:spcPts val="6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Methods to query framework 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Two-Tier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4572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4754880"/>
          </a:xfrm>
          <a:prstGeom prst="roundRect">
            <a:avLst/>
          </a:prstGeom>
          <a:solidFill>
            <a:srgbClr val="122238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NEXUS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286000"/>
            <a:ext cx="6858000" cy="1645920"/>
          </a:xfrm>
          <a:prstGeom prst="roundRect">
            <a:avLst/>
          </a:prstGeom>
          <a:solidFill>
            <a:srgbClr val="1A3050"/>
          </a:solidFill>
          <a:ln w="12700">
            <a:solidFill>
              <a:srgbClr val="40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TIER 1, Workflow Orchestration  (LangGraph4j)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788920"/>
            <a:ext cx="1554480" cy="731520"/>
          </a:xfrm>
          <a:prstGeom prst="roundRect">
            <a:avLst/>
          </a:prstGeom>
          <a:solidFill>
            <a:srgbClr val="1B2A41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CCCCCC"/>
                </a:solidFill>
                <a:latin typeface="Calibri"/>
              </a:defRPr>
            </a:pPr>
            <a:r>
              <a:t>Non-AI</a:t>
            </a:r>
            <a:br/>
            <a:r>
              <a:t>Node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788920"/>
            <a:ext cx="1554480" cy="731520"/>
          </a:xfrm>
          <a:prstGeom prst="roundRect">
            <a:avLst/>
          </a:prstGeom>
          <a:solidFill>
            <a:srgbClr val="1B2A41"/>
          </a:solidFill>
          <a:ln w="1270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C97B"/>
                </a:solidFill>
                <a:latin typeface="Calibri"/>
              </a:defRPr>
            </a:pPr>
            <a:r>
              <a:t>AI Node</a:t>
            </a:r>
            <a:br/>
            <a:r>
              <a:t>(Bridge → T2)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79" y="2788920"/>
            <a:ext cx="1554480" cy="731520"/>
          </a:xfrm>
          <a:prstGeom prst="roundRect">
            <a:avLst/>
          </a:prstGeom>
          <a:solidFill>
            <a:srgbClr val="1B2A41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CCCCCC"/>
                </a:solidFill>
                <a:latin typeface="Calibri"/>
              </a:defRPr>
            </a:pPr>
            <a:r>
              <a:t>Non-AI</a:t>
            </a:r>
            <a:br/>
            <a:r>
              <a:t>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11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Checkpoints  |  Graph State  |  Conditional Edges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114800"/>
            <a:ext cx="6858000" cy="1188720"/>
          </a:xfrm>
          <a:prstGeom prst="roundRect">
            <a:avLst/>
          </a:prstGeom>
          <a:solidFill>
            <a:srgbClr val="1A3050"/>
          </a:solidFill>
          <a:ln w="12700">
            <a:solidFill>
              <a:srgbClr val="40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TIER 2, Agent Pipeline  (LangChain4j)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26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AgentFactory  |  AgentSpec  |  AgenticScope  |  Tools  |  UntypedAgent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74D"/>
                </a:solidFill>
                <a:latin typeface="Calibri"/>
              </a:defRPr>
            </a:pPr>
            <a:r>
              <a:t>sequence()  |  parallel()  |  loopUntil()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69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Enterprise Auth  |  DB-Driven Prompts  |  Observability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697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B74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2286000"/>
            <a:ext cx="2560320" cy="1188720"/>
          </a:xfrm>
          <a:prstGeom prst="roundRect">
            <a:avLst/>
          </a:prstGeom>
          <a:solidFill>
            <a:srgbClr val="1A3050"/>
          </a:solidFill>
          <a:ln w="254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300" b="1">
                <a:solidFill>
                  <a:srgbClr val="FFB74D"/>
                </a:solidFill>
                <a:latin typeface="Calibri"/>
              </a:defRPr>
            </a:pPr>
            <a:r>
              <a:t>DATABASE</a:t>
            </a:r>
          </a:p>
          <a:p>
            <a:pPr algn="ctr">
              <a:spcBef>
                <a:spcPts val="300"/>
              </a:spcBef>
              <a:defRPr sz="1000">
                <a:solidFill>
                  <a:srgbClr val="CCCCCC"/>
                </a:solidFill>
                <a:latin typeface="Calibri"/>
              </a:defRPr>
            </a:pPr>
            <a:r>
              <a:t>Checkpoints (T1)</a:t>
            </a:r>
            <a:br/>
            <a:r>
              <a:t>Prompts (T2)</a:t>
            </a:r>
            <a:br/>
            <a:r>
              <a:t>Execution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251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7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3749039"/>
            <a:ext cx="2560320" cy="1097280"/>
          </a:xfrm>
          <a:prstGeom prst="roundRect">
            <a:avLst/>
          </a:prstGeom>
          <a:solidFill>
            <a:srgbClr val="1A3050"/>
          </a:solidFill>
          <a:ln w="2540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LLM, GEMINI</a:t>
            </a:r>
          </a:p>
          <a:p>
            <a:pPr algn="ctr">
              <a:spcBef>
                <a:spcPts val="300"/>
              </a:spcBef>
              <a:defRPr sz="1000">
                <a:solidFill>
                  <a:srgbClr val="CCCCCC"/>
                </a:solidFill>
                <a:latin typeface="Calibri"/>
              </a:defRPr>
            </a:pPr>
            <a:r>
              <a:t>Model Calls (via T2)</a:t>
            </a:r>
            <a:br/>
            <a:r>
              <a:t>Responses &amp; Streaming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5120640"/>
            <a:ext cx="2560320" cy="1005840"/>
          </a:xfrm>
          <a:prstGeom prst="roundRect">
            <a:avLst/>
          </a:prstGeom>
          <a:solidFill>
            <a:srgbClr val="1A3050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300" b="1">
                <a:solidFill>
                  <a:srgbClr val="0078D4"/>
                </a:solidFill>
                <a:latin typeface="Calibri"/>
              </a:defRPr>
            </a:pPr>
            <a:r>
              <a:t>AZURE AD</a:t>
            </a:r>
          </a:p>
          <a:p>
            <a:pPr algn="ctr">
              <a:spcBef>
                <a:spcPts val="300"/>
              </a:spcBef>
              <a:defRPr sz="1000">
                <a:solidFill>
                  <a:srgbClr val="CCCCCC"/>
                </a:solidFill>
                <a:latin typeface="Calibri"/>
              </a:defRPr>
            </a:pPr>
            <a:r>
              <a:t>WIF Authentication</a:t>
            </a:r>
            <a:br/>
            <a:r>
              <a:t>Token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AgentSpec, Declarative Agent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45720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400800" cy="4114800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00C97B"/>
                </a:solidFill>
                <a:latin typeface="Consolas"/>
              </a:defRPr>
            </a:pPr>
            <a:r>
              <a:t>AgentSpec OWNERSHIP_ORG_CHART_AGENT = AgentSpec.of(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00C97B"/>
                </a:solidFill>
                <a:latin typeface="Consolas"/>
              </a:defRPr>
            </a:pPr>
            <a:r>
              <a:t>        OWNERSHIP_ORGANISATION_CHART.getValue(),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00C97B"/>
                </a:solidFill>
                <a:latin typeface="Consolas"/>
              </a:defRPr>
            </a:pPr>
            <a:r>
              <a:t>        OWNERSHIP_ORGANISATION_CHART.getDescription())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00C97B"/>
                </a:solidFill>
                <a:latin typeface="Consolas"/>
              </a:defRPr>
            </a:pPr>
            <a:r>
              <a:t>    .inputs(Map.of(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00C97B"/>
                </a:solidFill>
                <a:latin typeface="Consolas"/>
              </a:defRPr>
            </a:pPr>
            <a:r>
              <a:t>        "deduplicatedEntities", OwnershipResult.class,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00C97B"/>
                </a:solidFill>
                <a:latin typeface="Consolas"/>
              </a:defRPr>
            </a:pPr>
            <a:r>
              <a:t>        "clientEntityName",     String.class))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00C97B"/>
                </a:solidFill>
                <a:latin typeface="Consolas"/>
              </a:defRPr>
            </a:pPr>
            <a:r>
              <a:t>    .output("organisationChart", String.class)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00C97B"/>
                </a:solidFill>
                <a:latin typeface="Consolas"/>
              </a:defRPr>
            </a:pPr>
            <a:r>
              <a:t>    .cacheSystemInstruction(true)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00C97B"/>
                </a:solidFill>
                <a:latin typeface="Consolas"/>
              </a:defRPr>
            </a:pPr>
            <a:r>
              <a:t>    .inputGuardrails(inputValidatorGuardrail)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00C97B"/>
                </a:solidFill>
                <a:latin typeface="Consolas"/>
              </a:defRPr>
            </a:pPr>
            <a:r>
              <a:t>    .outputGuardrails(jsonSchemaValidator)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00C97B"/>
                </a:solidFill>
                <a:latin typeface="Consolas"/>
              </a:defRPr>
            </a:pPr>
            <a:r>
              <a:t>    .contentRetriever(ragContentRetriever)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00C97B"/>
                </a:solidFill>
                <a:latin typeface="Consolas"/>
              </a:defRPr>
            </a:pPr>
            <a:r>
              <a:t>    .tools(batchAccumulatorTool)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00C97B"/>
                </a:solidFill>
                <a:latin typeface="Consolas"/>
              </a:defRPr>
            </a:pPr>
            <a:r>
              <a:t>    .async(false)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00C97B"/>
                </a:solidFill>
                <a:latin typeface="Consolas"/>
              </a:defRPr>
            </a:pPr>
            <a:r>
              <a:t>    .cacheTools(true)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00C97B"/>
                </a:solidFill>
                <a:latin typeface="Consolas"/>
              </a:defRPr>
            </a:pPr>
            <a:r>
              <a:t>    .promptVersion(4)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 b="0">
                <a:solidFill>
                  <a:srgbClr val="00C97B"/>
                </a:solidFill>
                <a:latin typeface="Consolas"/>
              </a:defRPr>
            </a:pPr>
            <a:r>
              <a:t>    .build();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8288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057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Typed bindings from graph state with class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3317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5603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Typed output key, available to downstream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834639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cacheSystemInstruction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06323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Cache system prompt across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337559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inputGuardrails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56615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Team-provided validation before LLM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840479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outputGuardrails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06907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Team-provided validation after LLM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343399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contentRetriever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57199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RAG retriever, injects context from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846319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07491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LangChain4j-compatible tool bindings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349239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async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557783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Sync or async execution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852159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promptVersion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608075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Versioned prompts loaded from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Spring Boot Agent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Simple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5084064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@Bean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public OwnershipOrganisationChartAgent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ownershipOrganisationChartAgent()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return agentFactory.sequence(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OwnershipOrganisationChartAgent.class,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"organisationChart",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specs.ownershipOrganisationChartAgent());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4D"/>
                </a:solidFill>
                <a:latin typeface="Calibri"/>
              </a:defRPr>
            </a:pPr>
            <a:r>
              <a:t>With Critic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03520" cy="5084064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@Bean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public OwnershipOrganisationChartAgent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ownershipOrgChartAgentWithCritic()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UntypedAgent initScope = AgenticServices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.sequenceBuilder()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.output(scope -&gt;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    scope.writeState("criticFeedback", "");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    scope.writeState("extractedRecords", "");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    return "";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}).build();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UntypedAgent extractor = agentFactory.criticLoop(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scope -&gt; scoreParser.parseCriticScore(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    scope.readState("criticFeedback")),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buildWithBatchTool(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    specs.ownershipOrgChartAgent()),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specs.ownershipExtractionCriticAgent());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return agentFactory.sequence(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OwnershipOrganisationChartAgent.class,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"extractedRecords",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    initScope, extractor);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Tier 1, Workflow Graph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4572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754880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StateGraph&lt;CsmState&gt; workflow = new StateGraph&lt;&gt;(CsmState::new);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workflow.addNode("document_aggregation",            documentAggregatorNode);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workflow.addNode("document_classification_node",    documentClassificationNode);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workflow.addNode("named_entity_extraction_node",    namedEntityExtractionNode);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workflow.addNode("csm_classification",              csmClassificationNode);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workflow.addNode("csm_comparison",                  csmComparisonNode);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workflow.addNode("de_duplication_node",             deDuplicationNode);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workflow.addNode("person_name_normalization_node",  personNameNormalizationNode);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workflow.addNode("csm_persistence",                 csmPersistenceNode);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workflow.addNode("auto_answer_trigger",             autoAnswerTriggeringNode);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workflow.addEdge(START, "document_aggregation");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workflow.addEdge("document_aggregation", "document_classification_node");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workflow.addConditionalEdges("document_classification_node",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documentAggregationEdge,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Map.of("named_entity_extraction_node", "named_entity_extraction_node", END, END));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workflow.addEdge("named_entity_extraction_node", "person_name_normalization_node");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workflow.addEdge("person_name_normalization_node", "de_duplication_node");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workflow.addEdge("de_duplication_node", "csm_classification");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workflow.addEdge("csm_classification", "csm_comparison");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workflow.addConditionalEdges("csm_comparison", csmPersistenceTriggeringEdge,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Map.of("csm_persistence", "csm_persistence", END, END));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workflow.addEdge("csm_persistence", "auto_answer_trigger");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workflow.addEdge("auto_answer_trigger", END);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return workflow.compile(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>
                <a:solidFill>
                  <a:srgbClr val="00C97B"/>
                </a:solidFill>
                <a:latin typeface="Consolas"/>
              </a:defRPr>
            </a:pPr>
            <a:r>
              <a:t>    CompileConfig.builder().checkpointSaver(checkpointSaver).build());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Database Schema, Entity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6576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Four tables power the framework: config, execution, observability, and state persistence.</a:t>
            </a:r>
          </a:p>
        </p:txBody>
      </p:sp>
      <p:pic>
        <p:nvPicPr>
          <p:cNvPr id="5" name="Picture 4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645920"/>
            <a:ext cx="443454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DB-Driven Configuration, AI_CHAT_PROMPT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6576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All agent configs defined here. Loaded and validated at application start. Missing input variables throw exceptions before first request.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219456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IDENTITY</a:t>
            </a:r>
          </a:p>
          <a:p>
            <a:pPr>
              <a:spcBef>
                <a:spcPts val="300"/>
              </a:spcBef>
              <a:defRPr sz="1000" b="1">
                <a:solidFill>
                  <a:srgbClr val="00C97B"/>
                </a:solidFill>
                <a:latin typeface="Consolas"/>
              </a:defRPr>
            </a:pPr>
            <a:r>
              <a:t>CW_PROMPT_CODE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Agent identifier</a:t>
            </a:r>
          </a:p>
          <a:p>
            <a:pPr>
              <a:spcBef>
                <a:spcPts val="300"/>
              </a:spcBef>
              <a:defRPr sz="1000" b="1">
                <a:solidFill>
                  <a:srgbClr val="00C97B"/>
                </a:solidFill>
                <a:latin typeface="Consolas"/>
              </a:defRPr>
            </a:pPr>
            <a:r>
              <a:t>PROMPT_VERSION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Version number</a:t>
            </a:r>
          </a:p>
          <a:p>
            <a:pPr>
              <a:spcBef>
                <a:spcPts val="300"/>
              </a:spcBef>
              <a:defRPr sz="1000" b="1">
                <a:solidFill>
                  <a:srgbClr val="00C97B"/>
                </a:solidFill>
                <a:latin typeface="Consolas"/>
              </a:defRPr>
            </a:pPr>
            <a:r>
              <a:t>CW_STEP_CODE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Workflow step ref</a:t>
            </a:r>
          </a:p>
          <a:p>
            <a:pPr>
              <a:spcBef>
                <a:spcPts val="300"/>
              </a:spcBef>
              <a:defRPr sz="1000" b="1">
                <a:solidFill>
                  <a:srgbClr val="00C97B"/>
                </a:solidFill>
                <a:latin typeface="Consolas"/>
              </a:defRPr>
            </a:pPr>
            <a:r>
              <a:t>FUNCTION_CODE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Function/workflow ref</a:t>
            </a:r>
          </a:p>
          <a:p>
            <a:pPr>
              <a:spcBef>
                <a:spcPts val="300"/>
              </a:spcBef>
              <a:defRPr sz="1000" b="1">
                <a:solidFill>
                  <a:srgbClr val="00C97B"/>
                </a:solidFill>
                <a:latin typeface="Consolas"/>
              </a:defRPr>
            </a:pPr>
            <a:r>
              <a:t>DEFAULT_PROMPT_VERSION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Active version flag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383280" cy="219456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 b="1">
                <a:solidFill>
                  <a:srgbClr val="00C97B"/>
                </a:solidFill>
                <a:latin typeface="Calibri"/>
              </a:defRPr>
            </a:pPr>
            <a:r>
              <a:t>MODEL CONFIGURATION</a:t>
            </a:r>
          </a:p>
          <a:p>
            <a:pPr>
              <a:spcBef>
                <a:spcPts val="200"/>
              </a:spcBef>
              <a:defRPr sz="1000" b="1">
                <a:solidFill>
                  <a:srgbClr val="FFB74D"/>
                </a:solidFill>
                <a:latin typeface="Consolas"/>
              </a:defRPr>
            </a:pPr>
            <a:r>
              <a:t>CW_MODEL_NAME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Model (e.g. gemini-1.5-pro)</a:t>
            </a:r>
          </a:p>
          <a:p>
            <a:pPr>
              <a:spcBef>
                <a:spcPts val="200"/>
              </a:spcBef>
              <a:defRPr sz="1000" b="1">
                <a:solidFill>
                  <a:srgbClr val="FFB74D"/>
                </a:solidFill>
                <a:latin typeface="Consolas"/>
              </a:defRPr>
            </a:pPr>
            <a:r>
              <a:t>CW_TEMPERATURE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Temperature</a:t>
            </a:r>
          </a:p>
          <a:p>
            <a:pPr>
              <a:spcBef>
                <a:spcPts val="200"/>
              </a:spcBef>
              <a:defRPr sz="1000" b="1">
                <a:solidFill>
                  <a:srgbClr val="FFB74D"/>
                </a:solidFill>
                <a:latin typeface="Consolas"/>
              </a:defRPr>
            </a:pPr>
            <a:r>
              <a:t>CW_TOP_P / CW_TOP_K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Sampling parameters</a:t>
            </a:r>
          </a:p>
          <a:p>
            <a:pPr>
              <a:spcBef>
                <a:spcPts val="200"/>
              </a:spcBef>
              <a:defRPr sz="1000" b="1">
                <a:solidFill>
                  <a:srgbClr val="FFB74D"/>
                </a:solidFill>
                <a:latin typeface="Consolas"/>
              </a:defRPr>
            </a:pPr>
            <a:r>
              <a:t>CW_SEED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Seed for reproducibility</a:t>
            </a:r>
          </a:p>
          <a:p>
            <a:pPr>
              <a:spcBef>
                <a:spcPts val="200"/>
              </a:spcBef>
              <a:defRPr sz="1000" b="1">
                <a:solidFill>
                  <a:srgbClr val="FFB74D"/>
                </a:solidFill>
                <a:latin typeface="Consolas"/>
              </a:defRPr>
            </a:pPr>
            <a:r>
              <a:t>CW_MAX_OUTPUT_TOKENS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Token limit</a:t>
            </a:r>
          </a:p>
          <a:p>
            <a:pPr>
              <a:spcBef>
                <a:spcPts val="200"/>
              </a:spcBef>
              <a:defRPr sz="1000" b="1">
                <a:solidFill>
                  <a:srgbClr val="FFB74D"/>
                </a:solidFill>
                <a:latin typeface="Consolas"/>
              </a:defRPr>
            </a:pPr>
            <a:r>
              <a:t>CW_CALL_TIMEOUT_MILLIS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Call timeout</a:t>
            </a:r>
          </a:p>
          <a:p>
            <a:pPr>
              <a:spcBef>
                <a:spcPts val="200"/>
              </a:spcBef>
              <a:defRPr sz="1000" b="1">
                <a:solidFill>
                  <a:srgbClr val="FFB74D"/>
                </a:solidFill>
                <a:latin typeface="Consolas"/>
              </a:defRPr>
            </a:pPr>
            <a:r>
              <a:t>CW_THINKING_BUDGET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Thinking budget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737360"/>
            <a:ext cx="3566160" cy="219456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 b="1">
                <a:solidFill>
                  <a:srgbClr val="FFB74D"/>
                </a:solidFill>
                <a:latin typeface="Calibri"/>
              </a:defRPr>
            </a:pPr>
            <a:r>
              <a:t>PROMPT &amp; BEHAVIOUR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  <a:latin typeface="Consolas"/>
              </a:defRPr>
            </a:pPr>
            <a:r>
              <a:t>CW_PROMPT_TEXT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User prompt template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  <a:latin typeface="Consolas"/>
              </a:defRPr>
            </a:pPr>
            <a:r>
              <a:t>SYSTEM_INSTRUCTION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System instruction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  <a:latin typeface="Consolas"/>
              </a:defRPr>
            </a:pPr>
            <a:r>
              <a:t>CW_PROMPT_LANG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Prompt language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  <a:latin typeface="Consolas"/>
              </a:defRPr>
            </a:pPr>
            <a:r>
              <a:t>CW_RESPONSE_SCHEMA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Expected response schema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  <a:latin typeface="Consolas"/>
              </a:defRPr>
            </a:pPr>
            <a:r>
              <a:t>CRITIC_LOOPS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Critic loop iterations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698480" cy="914400"/>
          </a:xfrm>
          <a:prstGeom prst="roundRect">
            <a:avLst/>
          </a:prstGeom>
          <a:solidFill>
            <a:srgbClr val="1B2A41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100" b="0">
                <a:solidFill>
                  <a:srgbClr val="999999"/>
                </a:solidFill>
                <a:latin typeface="Consolas"/>
              </a:defRPr>
            </a:pPr>
            <a:r>
              <a:t>AUDIT    CREATED_BY  |  CREATED_DATE  |  LAST_UPDATED_BY  |  LAST_UPDATE_DATE</a:t>
            </a:r>
          </a:p>
          <a:p>
            <a:pPr>
              <a:spcBef>
                <a:spcPts val="400"/>
              </a:spcBef>
              <a:defRPr sz="1000">
                <a:solidFill>
                  <a:srgbClr val="0096D6"/>
                </a:solidFill>
                <a:latin typeface="Consolas"/>
              </a:defRPr>
            </a:pPr>
            <a:r>
              <a:t>Primary Key: (CW_PROMPT_CODE, PROMPT_VERSION)    FK → AI_CHAT_WORKFLOW, AI_CHAT_WORKFLOW_STEP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B74D"/>
                </a:solidFill>
                <a:latin typeface="Calibri"/>
              </a:defRPr>
            </a:pPr>
            <a:r>
              <a:t>Change a prompt, model, or temperature without redeployment. Next execution picks up the new config. Full version history via PROMPT_VERSION.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Workflow Metadata, AI_CHAT_WORKFLOW_RUN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6576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Parent table for every workflow execution. CW_RUN_ID links to agent executions and checkpoints tables.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3474720" cy="347472"/>
          </a:xfrm>
          <a:prstGeom prst="rect">
            <a:avLst/>
          </a:prstGeom>
          <a:solidFill>
            <a:srgbClr val="1A3050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96D6"/>
                </a:solidFill>
                <a:latin typeface="Consolas"/>
              </a:defRPr>
            </a:pPr>
            <a:r>
              <a:t>COLUMN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691640"/>
            <a:ext cx="2011680" cy="347472"/>
          </a:xfrm>
          <a:prstGeom prst="rect">
            <a:avLst/>
          </a:prstGeom>
          <a:solidFill>
            <a:srgbClr val="1A3050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96D6"/>
                </a:solidFill>
                <a:latin typeface="Consolas"/>
              </a:defRPr>
            </a:pPr>
            <a: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91640"/>
            <a:ext cx="5029200" cy="347472"/>
          </a:xfrm>
          <a:prstGeom prst="rect">
            <a:avLst/>
          </a:prstGeom>
          <a:solidFill>
            <a:srgbClr val="1A3050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96D6"/>
                </a:solidFill>
                <a:latin typeface="Consolas"/>
              </a:defRPr>
            </a:pPr>
            <a:r>
              <a:t>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39112"/>
            <a:ext cx="347472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 b="1">
                <a:solidFill>
                  <a:srgbClr val="FFB74D"/>
                </a:solidFill>
                <a:latin typeface="Consolas"/>
              </a:defRPr>
            </a:pPr>
            <a:r>
              <a:t>CW_RUN_ID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039112"/>
            <a:ext cx="201168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999999"/>
                </a:solidFill>
                <a:latin typeface="Consolas"/>
              </a:defRPr>
            </a:pPr>
            <a:r>
              <a:t>NUMBER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39112"/>
            <a:ext cx="502920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CCCCCC"/>
                </a:solidFill>
                <a:latin typeface="Calibri"/>
              </a:defRPr>
            </a:pPr>
            <a:r>
              <a:t>Unique run ID, links to agent executions and checkpoints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40864"/>
            <a:ext cx="347472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FUNCTION_CODE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340864"/>
            <a:ext cx="201168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999999"/>
                </a:solidFill>
                <a:latin typeface="Consolas"/>
              </a:defRPr>
            </a:pPr>
            <a:r>
              <a:t>VARCHAR2(50)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340864"/>
            <a:ext cx="502920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CCCCCC"/>
                </a:solidFill>
                <a:latin typeface="Calibri"/>
              </a:defRPr>
            </a:pPr>
            <a:r>
              <a:t>Workflow/function identifier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42616"/>
            <a:ext cx="347472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 b="1">
                <a:solidFill>
                  <a:srgbClr val="00C97B"/>
                </a:solidFill>
                <a:latin typeface="Consolas"/>
              </a:defRPr>
            </a:pPr>
            <a:r>
              <a:t>CW_RUN_STATUS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642616"/>
            <a:ext cx="201168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999999"/>
                </a:solidFill>
                <a:latin typeface="Consolas"/>
              </a:defRPr>
            </a:pPr>
            <a:r>
              <a:t>VARCHAR2(50)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42616"/>
            <a:ext cx="502920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CCCCCC"/>
                </a:solidFill>
                <a:latin typeface="Calibri"/>
              </a:defRPr>
            </a:pPr>
            <a:r>
              <a:t>Status: RUNNING → FINISHED / FAILED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44368"/>
            <a:ext cx="347472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RUN_COMMENT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944368"/>
            <a:ext cx="201168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999999"/>
                </a:solidFill>
                <a:latin typeface="Consolas"/>
              </a:defRPr>
            </a:pPr>
            <a:r>
              <a:t>VARCHAR2(256)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44368"/>
            <a:ext cx="502920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CCCCCC"/>
                </a:solidFill>
                <a:latin typeface="Calibri"/>
              </a:defRPr>
            </a:pPr>
            <a:r>
              <a:t>Execution comment or 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246120"/>
            <a:ext cx="347472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PROFILE_VERSION_ID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246120"/>
            <a:ext cx="201168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999999"/>
                </a:solidFill>
                <a:latin typeface="Consolas"/>
              </a:defRPr>
            </a:pPr>
            <a:r>
              <a:t>NUMBER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246120"/>
            <a:ext cx="502920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CCCCCC"/>
                </a:solidFill>
                <a:latin typeface="Calibri"/>
              </a:defRPr>
            </a:pPr>
            <a:r>
              <a:t>Client profile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547872"/>
            <a:ext cx="347472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 b="1">
                <a:solidFill>
                  <a:srgbClr val="00C97B"/>
                </a:solidFill>
                <a:latin typeface="Consolas"/>
              </a:defRPr>
            </a:pPr>
            <a:r>
              <a:t>KYC_ID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547872"/>
            <a:ext cx="201168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999999"/>
                </a:solidFill>
                <a:latin typeface="Consolas"/>
              </a:defRPr>
            </a:pPr>
            <a:r>
              <a:t>NUMBER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47872"/>
            <a:ext cx="502920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CCCCCC"/>
                </a:solidFill>
                <a:latin typeface="Calibri"/>
              </a:defRPr>
            </a:pPr>
            <a:r>
              <a:t>Client KYC identifier, which client this run is for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849624"/>
            <a:ext cx="347472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IS_STBL_KYC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849624"/>
            <a:ext cx="201168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999999"/>
                </a:solidFill>
                <a:latin typeface="Consolas"/>
              </a:defRPr>
            </a:pPr>
            <a:r>
              <a:t>CHAR(1)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849624"/>
            <a:ext cx="502920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CCCCCC"/>
                </a:solidFill>
                <a:latin typeface="Calibri"/>
              </a:defRPr>
            </a:pPr>
            <a:r>
              <a:t>Stable KYC flag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151376"/>
            <a:ext cx="347472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CREATED_BY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4151376"/>
            <a:ext cx="201168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999999"/>
                </a:solidFill>
                <a:latin typeface="Consolas"/>
              </a:defRPr>
            </a:pPr>
            <a:r>
              <a:t>VARCHAR2(128)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151376"/>
            <a:ext cx="502920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CCCCCC"/>
                </a:solidFill>
                <a:latin typeface="Calibri"/>
              </a:defRPr>
            </a:pPr>
            <a:r>
              <a:t>Who triggered the run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453128"/>
            <a:ext cx="347472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CREATE_DATE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453128"/>
            <a:ext cx="201168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999999"/>
                </a:solidFill>
                <a:latin typeface="Consolas"/>
              </a:defRPr>
            </a:pPr>
            <a:r>
              <a:t>TIMESTAMP(6)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453128"/>
            <a:ext cx="502920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CCCCCC"/>
                </a:solidFill>
                <a:latin typeface="Calibri"/>
              </a:defRPr>
            </a:pPr>
            <a:r>
              <a:t>When the run started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754880"/>
            <a:ext cx="347472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LAST_UPDATED_BY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4754880"/>
            <a:ext cx="201168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999999"/>
                </a:solidFill>
                <a:latin typeface="Consolas"/>
              </a:defRPr>
            </a:pPr>
            <a:r>
              <a:t>VARCHAR2(128)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754880"/>
            <a:ext cx="502920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CCCCCC"/>
                </a:solidFill>
                <a:latin typeface="Calibri"/>
              </a:defRPr>
            </a:pPr>
            <a:r>
              <a:t>Last status updater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056632"/>
            <a:ext cx="347472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LAST_UPDATE_DATE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5056632"/>
            <a:ext cx="201168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999999"/>
                </a:solidFill>
                <a:latin typeface="Consolas"/>
              </a:defRPr>
            </a:pPr>
            <a:r>
              <a:t>TIMESTAMP(6)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056632"/>
            <a:ext cx="5029200" cy="301752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sz="1000">
                <a:solidFill>
                  <a:srgbClr val="CCCCCC"/>
                </a:solidFill>
                <a:latin typeface="Calibri"/>
              </a:defRPr>
            </a:pPr>
            <a:r>
              <a:t>Last status change timestamp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tlCol="0" anchor="ctr"/>
          <a:lstStyle/>
          <a:p>
            <a:pPr algn="ctr">
              <a:defRPr sz="1200" b="1">
                <a:solidFill>
                  <a:srgbClr val="FFB74D"/>
                </a:solidFill>
                <a:latin typeface="Consolas"/>
              </a:defRPr>
            </a:pPr>
            <a:r>
              <a:t>AI_CHAT_WORKFLOW_RUN.CW_RUN_ID  →  NEXUS_AI_AGENT_EXECUTIONS.RUN_ID  |  CHECKPOINTS.RUN_ID</a:t>
            </a:r>
          </a:p>
          <a:p>
            <a:pPr algn="ctr"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One workflow run → many agent executions + many checkpoints. Full traceability from client to every LLM call.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Automatic Observability, NEXUS_AI_AGENT_EXECUTIONS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6576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Every agent execution automatically persisted by the framework. Zero developer code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83280" cy="201168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IDENTITY &amp; EXECUTION</a:t>
            </a:r>
          </a:p>
          <a:p>
            <a:pPr>
              <a:spcBef>
                <a:spcPts val="300"/>
              </a:spcBef>
              <a:defRPr sz="1000" b="1">
                <a:solidFill>
                  <a:srgbClr val="00C97B"/>
                </a:solidFill>
                <a:latin typeface="Consolas"/>
              </a:defRPr>
            </a:pPr>
            <a:r>
              <a:t>EXECUTION_ID</a:t>
            </a:r>
          </a:p>
          <a:p>
            <a:pPr>
              <a:spcBef>
                <a:spcPts val="300"/>
              </a:spcBef>
              <a:defRPr sz="1000" b="1">
                <a:solidFill>
                  <a:srgbClr val="00C97B"/>
                </a:solidFill>
                <a:latin typeface="Consolas"/>
              </a:defRPr>
            </a:pPr>
            <a:r>
              <a:t>AGENT_ID  /  AGENT_NAME</a:t>
            </a:r>
          </a:p>
          <a:p>
            <a:pPr>
              <a:spcBef>
                <a:spcPts val="300"/>
              </a:spcBef>
              <a:defRPr sz="1000" b="1">
                <a:solidFill>
                  <a:srgbClr val="00C97B"/>
                </a:solidFill>
                <a:latin typeface="Consolas"/>
              </a:defRPr>
            </a:pPr>
            <a:r>
              <a:t>RUN_ID</a:t>
            </a:r>
          </a:p>
          <a:p>
            <a:pPr>
              <a:spcBef>
                <a:spcPts val="300"/>
              </a:spcBef>
              <a:defRPr sz="1000" b="1">
                <a:solidFill>
                  <a:srgbClr val="00C97B"/>
                </a:solidFill>
                <a:latin typeface="Consolas"/>
              </a:defRPr>
            </a:pPr>
            <a:r>
              <a:t>INVOCATION_ORDER</a:t>
            </a:r>
          </a:p>
          <a:p>
            <a:pPr>
              <a:spcBef>
                <a:spcPts val="300"/>
              </a:spcBef>
              <a:defRPr sz="1000" b="1">
                <a:solidFill>
                  <a:srgbClr val="00C97B"/>
                </a:solidFill>
                <a:latin typeface="Consolas"/>
              </a:defRPr>
            </a:pPr>
            <a:r>
              <a:t>STATUS</a:t>
            </a:r>
          </a:p>
          <a:p>
            <a:pPr>
              <a:spcBef>
                <a:spcPts val="300"/>
              </a:spcBef>
              <a:defRPr sz="1000" b="1">
                <a:solidFill>
                  <a:srgbClr val="00C97B"/>
                </a:solidFill>
                <a:latin typeface="Consolas"/>
              </a:defRPr>
            </a:pPr>
            <a:r>
              <a:t>PROMPT_VERSION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91640"/>
            <a:ext cx="3200400" cy="201168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 b="1">
                <a:solidFill>
                  <a:srgbClr val="00C97B"/>
                </a:solidFill>
                <a:latin typeface="Calibri"/>
              </a:defRPr>
            </a:pPr>
            <a:r>
              <a:t>TIMING &amp; DATA</a:t>
            </a:r>
          </a:p>
          <a:p>
            <a:pPr>
              <a:spcBef>
                <a:spcPts val="200"/>
              </a:spcBef>
              <a:defRPr sz="1000" b="1">
                <a:solidFill>
                  <a:srgbClr val="FFB74D"/>
                </a:solidFill>
                <a:latin typeface="Consolas"/>
              </a:defRPr>
            </a:pPr>
            <a:r>
              <a:t>STARTED_AT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Execution start</a:t>
            </a:r>
          </a:p>
          <a:p>
            <a:pPr>
              <a:spcBef>
                <a:spcPts val="200"/>
              </a:spcBef>
              <a:defRPr sz="1000" b="1">
                <a:solidFill>
                  <a:srgbClr val="FFB74D"/>
                </a:solidFill>
                <a:latin typeface="Consolas"/>
              </a:defRPr>
            </a:pPr>
            <a:r>
              <a:t>COMPLETED_AT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Execution end</a:t>
            </a:r>
          </a:p>
          <a:p>
            <a:pPr>
              <a:spcBef>
                <a:spcPts val="200"/>
              </a:spcBef>
              <a:defRPr sz="1000" b="1">
                <a:solidFill>
                  <a:srgbClr val="FFB74D"/>
                </a:solidFill>
                <a:latin typeface="Consolas"/>
              </a:defRPr>
            </a:pPr>
            <a:r>
              <a:t>DURATION_MS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Duration in ms</a:t>
            </a:r>
          </a:p>
          <a:p>
            <a:pPr>
              <a:spcBef>
                <a:spcPts val="200"/>
              </a:spcBef>
              <a:defRPr sz="1000" b="1">
                <a:solidFill>
                  <a:srgbClr val="FFB74D"/>
                </a:solidFill>
                <a:latin typeface="Consolas"/>
              </a:defRPr>
            </a:pPr>
            <a:r>
              <a:t>INPUT_DATA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Full input (CLOB)</a:t>
            </a:r>
          </a:p>
          <a:p>
            <a:pPr>
              <a:spcBef>
                <a:spcPts val="200"/>
              </a:spcBef>
              <a:defRPr sz="1000" b="1">
                <a:solidFill>
                  <a:srgbClr val="FFB74D"/>
                </a:solidFill>
                <a:latin typeface="Consolas"/>
              </a:defRPr>
            </a:pPr>
            <a:r>
              <a:t>OUTPUT_DATA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Full output (CLOB)</a:t>
            </a:r>
          </a:p>
          <a:p>
            <a:pPr>
              <a:spcBef>
                <a:spcPts val="200"/>
              </a:spcBef>
              <a:defRPr sz="1000" b="1">
                <a:solidFill>
                  <a:srgbClr val="FFB74D"/>
                </a:solidFill>
                <a:latin typeface="Consolas"/>
              </a:defRPr>
            </a:pPr>
            <a:r>
              <a:t>ERROR_MESSAGE</a:t>
            </a:r>
          </a:p>
          <a:p>
            <a:pPr>
              <a:defRPr sz="900">
                <a:solidFill>
                  <a:srgbClr val="CCCCCC"/>
                </a:solidFill>
                <a:latin typeface="Calibri"/>
              </a:defRPr>
            </a:pPr>
            <a:r>
              <a:t>  Error details if failed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691640"/>
            <a:ext cx="3749039" cy="201168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200" b="1">
                <a:solidFill>
                  <a:srgbClr val="FFB74D"/>
                </a:solidFill>
                <a:latin typeface="Calibri"/>
              </a:defRPr>
            </a:pPr>
            <a:r>
              <a:t>TOKEN METRICS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  <a:latin typeface="Consolas"/>
              </a:defRPr>
            </a:pPr>
            <a:r>
              <a:t>INPUT_TOKENS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  <a:latin typeface="Consolas"/>
              </a:defRPr>
            </a:pPr>
            <a:r>
              <a:t>OUTPUT_TOKENS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  <a:latin typeface="Consolas"/>
              </a:defRPr>
            </a:pPr>
            <a:r>
              <a:t>TOTAL_TOKENS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  <a:latin typeface="Consolas"/>
              </a:defRPr>
            </a:pPr>
            <a:r>
              <a:t>CACHED_CONTENT_TOKENS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  <a:latin typeface="Consolas"/>
              </a:defRPr>
            </a:pPr>
            <a:r>
              <a:t>THOUGHTS_TOKENS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  <a:latin typeface="Consolas"/>
              </a:defRPr>
            </a:pPr>
            <a:r>
              <a:t>TOOL_USE_PROMPT_TOKENS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  <a:latin typeface="Consolas"/>
              </a:defRPr>
            </a:pPr>
            <a:r>
              <a:t>LLM_CALL_COUNT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  <a:latin typeface="Consolas"/>
              </a:defRPr>
            </a:pPr>
            <a:r>
              <a:t>TOKEN_USAGE_DETAILS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2560320" cy="109728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400" b="1">
                <a:solidFill>
                  <a:srgbClr val="0096D6"/>
                </a:solidFill>
                <a:latin typeface="Calibri"/>
              </a:defRPr>
            </a:pPr>
            <a:r>
              <a:t>Zero Code</a:t>
            </a:r>
          </a:p>
          <a:p>
            <a:pPr algn="ctr"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Framework persists every</a:t>
            </a:r>
            <a:br/>
            <a:r>
              <a:t>agent run automatically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3931920"/>
            <a:ext cx="2560320" cy="109728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400" b="1">
                <a:solidFill>
                  <a:srgbClr val="00C97B"/>
                </a:solidFill>
                <a:latin typeface="Calibri"/>
              </a:defRPr>
            </a:pPr>
            <a:r>
              <a:t>Full I/O Capture</a:t>
            </a:r>
          </a:p>
          <a:p>
            <a:pPr algn="ctr"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Input &amp; output data stored</a:t>
            </a:r>
            <a:br/>
            <a:r>
              <a:t>for debugging &amp; replay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3931920"/>
            <a:ext cx="2560320" cy="109728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400" b="1">
                <a:solidFill>
                  <a:srgbClr val="FFB74D"/>
                </a:solidFill>
                <a:latin typeface="Calibri"/>
              </a:defRPr>
            </a:pPr>
            <a:r>
              <a:t>Cost Visibility</a:t>
            </a:r>
          </a:p>
          <a:p>
            <a:pPr algn="ctr"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Token breakdown per agent</a:t>
            </a:r>
            <a:br/>
            <a:r>
              <a:t>incl. cached &amp; thinking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3931920"/>
            <a:ext cx="2560320" cy="109728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400" b="1">
                <a:solidFill>
                  <a:srgbClr val="E84D4D"/>
                </a:solidFill>
                <a:latin typeface="Calibri"/>
              </a:defRPr>
            </a:pPr>
            <a:r>
              <a:t>Compliance Ready</a:t>
            </a:r>
          </a:p>
          <a:p>
            <a:pPr algn="ctr"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Complete audit trail.</a:t>
            </a:r>
            <a:br/>
            <a:r>
              <a:t>Who ran what, when, how long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State Persistence, NEXUS_AI_CHECKPOINT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6576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Full graph state saved at every node transition. Enables replay, debugging, and resume from any point in the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00400" cy="384048"/>
          </a:xfrm>
          <a:prstGeom prst="rect">
            <a:avLst/>
          </a:prstGeom>
          <a:solidFill>
            <a:srgbClr val="1A3050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0096D6"/>
                </a:solidFill>
                <a:latin typeface="Consolas"/>
              </a:defRPr>
            </a:pPr>
            <a:r>
              <a:t>COLUMN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1737360"/>
            <a:ext cx="3200400" cy="384048"/>
          </a:xfrm>
          <a:prstGeom prst="rect">
            <a:avLst/>
          </a:prstGeom>
          <a:solidFill>
            <a:srgbClr val="1A3050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0096D6"/>
                </a:solidFill>
                <a:latin typeface="Consolas"/>
              </a:defRPr>
            </a:pPr>
            <a: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737360"/>
            <a:ext cx="4846320" cy="384048"/>
          </a:xfrm>
          <a:prstGeom prst="rect">
            <a:avLst/>
          </a:prstGeom>
          <a:solidFill>
            <a:srgbClr val="1A3050"/>
          </a:solidFill>
          <a:ln w="63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0096D6"/>
                </a:solidFill>
                <a:latin typeface="Consolas"/>
              </a:defRPr>
            </a:pPr>
            <a:r>
              <a:t>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21408"/>
            <a:ext cx="320040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 b="1">
                <a:solidFill>
                  <a:srgbClr val="FFB74D"/>
                </a:solidFill>
                <a:latin typeface="Consolas"/>
              </a:defRPr>
            </a:pPr>
            <a:r>
              <a:t>CHECKPOINT_ID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121408"/>
            <a:ext cx="320040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>
                <a:solidFill>
                  <a:srgbClr val="999999"/>
                </a:solidFill>
                <a:latin typeface="Consolas"/>
              </a:defRPr>
            </a:pPr>
            <a:r>
              <a:t>VARCHAR2(36)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121408"/>
            <a:ext cx="484632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Unique checkpoint UUID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05456"/>
            <a:ext cx="320040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 b="1">
                <a:solidFill>
                  <a:srgbClr val="FFB74D"/>
                </a:solidFill>
                <a:latin typeface="Consolas"/>
              </a:defRPr>
            </a:pPr>
            <a:r>
              <a:t>RUN_ID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505456"/>
            <a:ext cx="320040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>
                <a:solidFill>
                  <a:srgbClr val="999999"/>
                </a:solidFill>
                <a:latin typeface="Consolas"/>
              </a:defRPr>
            </a:pPr>
            <a:r>
              <a:t>VARCHAR2(255)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2505456"/>
            <a:ext cx="484632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Links to AI_CHAT_WORKFLOW_RUN, tracks which workflow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89503"/>
            <a:ext cx="320040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 b="1">
                <a:solidFill>
                  <a:srgbClr val="00C97B"/>
                </a:solidFill>
                <a:latin typeface="Consolas"/>
              </a:defRPr>
            </a:pPr>
            <a:r>
              <a:t>NODE_ID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889503"/>
            <a:ext cx="320040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>
                <a:solidFill>
                  <a:srgbClr val="999999"/>
                </a:solidFill>
                <a:latin typeface="Consolas"/>
              </a:defRPr>
            </a:pPr>
            <a:r>
              <a:t>VARCHAR2(255)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889503"/>
            <a:ext cx="484632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Current node that just completed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73551"/>
            <a:ext cx="320040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 b="1">
                <a:solidFill>
                  <a:srgbClr val="00C97B"/>
                </a:solidFill>
                <a:latin typeface="Consolas"/>
              </a:defRPr>
            </a:pPr>
            <a:r>
              <a:t>NEXT_NODE_ID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3273551"/>
            <a:ext cx="320040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>
                <a:solidFill>
                  <a:srgbClr val="999999"/>
                </a:solidFill>
                <a:latin typeface="Consolas"/>
              </a:defRPr>
            </a:pPr>
            <a:r>
              <a:t>VARCHAR2(255)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3273551"/>
            <a:ext cx="484632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Next node to execute, enables resume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657599"/>
            <a:ext cx="320040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STATE_DATA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3657599"/>
            <a:ext cx="320040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>
                <a:solidFill>
                  <a:srgbClr val="999999"/>
                </a:solidFill>
                <a:latin typeface="Consolas"/>
              </a:defRPr>
            </a:pPr>
            <a:r>
              <a:t>CLOB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657599"/>
            <a:ext cx="484632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Full graph state snapshot, all scope variables as 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41648"/>
            <a:ext cx="320040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 b="1">
                <a:solidFill>
                  <a:srgbClr val="CCCCCC"/>
                </a:solidFill>
                <a:latin typeface="Consolas"/>
              </a:defRPr>
            </a:pPr>
            <a:r>
              <a:t>SAVED_AT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4041648"/>
            <a:ext cx="320040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>
                <a:solidFill>
                  <a:srgbClr val="999999"/>
                </a:solidFill>
                <a:latin typeface="Consolas"/>
              </a:defRPr>
            </a:pPr>
            <a:r>
              <a:t>TIMESTAMP(6) WITH TZ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4041648"/>
            <a:ext cx="4846320" cy="384048"/>
          </a:xfrm>
          <a:prstGeom prst="rect">
            <a:avLst/>
          </a:prstGeom>
          <a:solidFill>
            <a:srgbClr val="141E30"/>
          </a:solidFill>
          <a:ln w="3810">
            <a:solidFill>
              <a:srgbClr val="2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tlCol="0" anchor="ctr"/>
          <a:lstStyle/>
          <a:p>
            <a:pPr algn="ctr">
              <a:defRPr sz="1200">
                <a:solidFill>
                  <a:srgbClr val="CCCCCC"/>
                </a:solidFill>
                <a:latin typeface="Calibri"/>
              </a:defRPr>
            </a:pPr>
            <a:r>
              <a:t>When checkpoint was saved, defaults to CURRENT_TIMESTAMP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754880"/>
            <a:ext cx="2560320" cy="137160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600" b="1">
                <a:solidFill>
                  <a:srgbClr val="0096D6"/>
                </a:solidFill>
                <a:latin typeface="Calibri"/>
              </a:defRPr>
            </a:pPr>
            <a:r>
              <a:t>Replay</a:t>
            </a:r>
          </a:p>
          <a:p>
            <a:pPr algn="ctr"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Re-run from any checkpoint</a:t>
            </a:r>
            <a:br/>
            <a:r>
              <a:t>without restarting the</a:t>
            </a:r>
            <a:br/>
            <a:r>
              <a:t>entire workflow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39" y="4754880"/>
            <a:ext cx="2560320" cy="137160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600" b="1">
                <a:solidFill>
                  <a:srgbClr val="00C97B"/>
                </a:solidFill>
                <a:latin typeface="Calibri"/>
              </a:defRPr>
            </a:pPr>
            <a:r>
              <a:t>Debug</a:t>
            </a:r>
          </a:p>
          <a:p>
            <a:pPr algn="ctr"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Inspect full state at every</a:t>
            </a:r>
            <a:br/>
            <a:r>
              <a:t>node, what went in,</a:t>
            </a:r>
            <a:br/>
            <a:r>
              <a:t>what came 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4754880"/>
            <a:ext cx="2560320" cy="137160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600" b="1">
                <a:solidFill>
                  <a:srgbClr val="FFB74D"/>
                </a:solidFill>
                <a:latin typeface="Calibri"/>
              </a:defRPr>
            </a:pPr>
            <a:r>
              <a:t>Resume</a:t>
            </a:r>
          </a:p>
          <a:p>
            <a:pPr algn="ctr"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NEXT_NODE_ID tracks where</a:t>
            </a:r>
            <a:br/>
            <a:r>
              <a:t>to continue after a failure</a:t>
            </a:r>
            <a:br/>
            <a:r>
              <a:t>or restart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4754880"/>
            <a:ext cx="2560320" cy="137160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>
              <a:defRPr sz="1600" b="1">
                <a:solidFill>
                  <a:srgbClr val="E84D4D"/>
                </a:solidFill>
                <a:latin typeface="Calibri"/>
              </a:defRPr>
            </a:pPr>
            <a:r>
              <a:t>Audit</a:t>
            </a:r>
          </a:p>
          <a:p>
            <a:pPr algn="ctr"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Complete execution history</a:t>
            </a:r>
            <a:br/>
            <a:r>
              <a:t>tied to RUN_ID. Every</a:t>
            </a:r>
            <a:br/>
            <a:r>
              <a:t>state transition recorded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Nexus AI Studio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6576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Raw execution data is powerful for auditing. But when you're building a 12-agent pipeline, you need to see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1FF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029200" cy="64008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tlCol="0" anchor="ctr"/>
          <a:lstStyle/>
          <a:p>
            <a:pPr algn="ctr">
              <a:defRPr sz="1300" b="1">
                <a:solidFill>
                  <a:srgbClr val="7B61FF"/>
                </a:solidFill>
                <a:latin typeface="Calibri"/>
              </a:defRPr>
            </a:pPr>
            <a:r>
              <a:t>Graph Visualization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Renders your workflow graph as an interactive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07791"/>
            <a:ext cx="5029200" cy="64008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tlCol="0" anchor="ctr"/>
          <a:lstStyle/>
          <a:p>
            <a:pPr algn="ctr">
              <a:defRPr sz="1300" b="1">
                <a:solidFill>
                  <a:srgbClr val="7B61FF"/>
                </a:solidFill>
                <a:latin typeface="Calibri"/>
              </a:defRPr>
            </a:pPr>
            <a:r>
              <a:t>Run Workflows from UI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Trigger and monitor executions in the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21024"/>
            <a:ext cx="5029200" cy="64008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tlCol="0" anchor="ctr"/>
          <a:lstStyle/>
          <a:p>
            <a:pPr algn="ctr">
              <a:defRPr sz="1300" b="1">
                <a:solidFill>
                  <a:srgbClr val="7B61FF"/>
                </a:solidFill>
                <a:latin typeface="Calibri"/>
              </a:defRPr>
            </a:pPr>
            <a:r>
              <a:t>Live Execution Tracking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Agents light up, complete, or fail in real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34256"/>
            <a:ext cx="5029200" cy="64008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tlCol="0" anchor="ctr"/>
          <a:lstStyle/>
          <a:p>
            <a:pPr algn="ctr">
              <a:defRPr sz="1300" b="1">
                <a:solidFill>
                  <a:srgbClr val="7B61FF"/>
                </a:solidFill>
                <a:latin typeface="Calibri"/>
              </a:defRPr>
            </a:pPr>
            <a:r>
              <a:t>State Inspection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Click any node for full input/output at that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4D"/>
                </a:solidFill>
                <a:latin typeface="Calibri"/>
              </a:defRPr>
            </a:pPr>
            <a:r>
              <a:t>Vision: Swagger for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5029200" cy="64008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tlCol="0" anchor="ctr"/>
          <a:lstStyle/>
          <a:p>
            <a:pPr algn="ctr">
              <a:defRPr sz="1300" b="1">
                <a:solidFill>
                  <a:srgbClr val="FFB74D"/>
                </a:solidFill>
                <a:latin typeface="Calibri"/>
              </a:defRPr>
            </a:pPr>
            <a:r>
              <a:t>Auto-Discover Agents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Scans app context, lists every registered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907791"/>
            <a:ext cx="5029200" cy="64008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tlCol="0" anchor="ctr"/>
          <a:lstStyle/>
          <a:p>
            <a:pPr algn="ctr">
              <a:defRPr sz="1300" b="1">
                <a:solidFill>
                  <a:srgbClr val="FFB74D"/>
                </a:solidFill>
                <a:latin typeface="Calibri"/>
              </a:defRPr>
            </a:pPr>
            <a:r>
              <a:t>Run Individual Agents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Test any agent in isolation, pass input, see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621024"/>
            <a:ext cx="5029200" cy="64008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tlCol="0" anchor="ctr"/>
          <a:lstStyle/>
          <a:p>
            <a:pPr algn="ctr">
              <a:defRPr sz="1300" b="1">
                <a:solidFill>
                  <a:srgbClr val="FFB74D"/>
                </a:solidFill>
                <a:latin typeface="Calibri"/>
              </a:defRPr>
            </a:pPr>
            <a:r>
              <a:t>Run Full Workflows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End-to-end pipelines with live graph feedback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334256"/>
            <a:ext cx="5029200" cy="640080"/>
          </a:xfrm>
          <a:prstGeom prst="roundRect">
            <a:avLst/>
          </a:prstGeom>
          <a:solidFill>
            <a:srgbClr val="1B2A41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tlCol="0" anchor="ctr"/>
          <a:lstStyle/>
          <a:p>
            <a:pPr algn="ctr">
              <a:defRPr sz="1300" b="1">
                <a:solidFill>
                  <a:srgbClr val="FFB74D"/>
                </a:solidFill>
                <a:latin typeface="Calibri"/>
              </a:defRPr>
            </a:pPr>
            <a:r>
              <a:t>One UI for Everything</a:t>
            </a:r>
          </a:p>
          <a:p>
            <a:pPr>
              <a:spcBef>
                <a:spcPts val="2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Like Swagger gave APIs a face, Studio gives agents a 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React + TypeScript SPA, packaged as a Spring Boot JAR. Add one Maven dependency, get the full UI.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Nexus AI Studio, 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4572000" cy="36576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tudio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6558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Prompts Are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4572000" cy="36576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A prompt that degrades model output doesn't throw an exception. It silently returns worse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You won't catch it in unit tests. You may not catch it in integration tests. You catch it when a business user files a ticket.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We treat configuration as code, infrastructure as code. Why not prompts as code?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49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PromptLint brings static analysis to prompt engineering: the same discipline we apply to Java, applied to the strings we send to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389120"/>
            <a:ext cx="8229600" cy="640080"/>
          </a:xfrm>
          <a:prstGeom prst="roundRect">
            <a:avLst/>
          </a:prstGeom>
          <a:solidFill>
            <a:srgbClr val="1B2A41"/>
          </a:solidFill>
          <a:ln w="2540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"A bad prompt is a bug. PromptLint finds it before it ships."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303520"/>
            <a:ext cx="2926080" cy="822960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E84D4D"/>
                </a:solidFill>
                <a:latin typeface="Calibri"/>
              </a:defRPr>
            </a:pPr>
            <a:r>
              <a:t>No LLM calls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Fully deterministic, rule-based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5303520"/>
            <a:ext cx="2926080" cy="822960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E84D4D"/>
                </a:solidFill>
                <a:latin typeface="Calibri"/>
              </a:defRPr>
            </a:pPr>
            <a:r>
              <a:t>Milliseconds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Fast enough for pre-commit hooks and CI gates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5303520"/>
            <a:ext cx="2926080" cy="822960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E84D4D"/>
                </a:solidFill>
                <a:latin typeface="Calibri"/>
              </a:defRPr>
            </a:pPr>
            <a:r>
              <a:t>Deterministic</a:t>
            </a:r>
          </a:p>
          <a:p>
            <a:pPr algn="ctr">
              <a:defRPr sz="1100">
                <a:solidFill>
                  <a:srgbClr val="CCCCCC"/>
                </a:solidFill>
                <a:latin typeface="Calibri"/>
              </a:defRPr>
            </a:pPr>
            <a:r>
              <a:t>Same prompt always produces the same score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 Quality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4572000" cy="36576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" cy="4114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CLR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47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4708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Sentence structure, ambiguous pronouns, vague quantifiers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731520" cy="4114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SPC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500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Specificity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3500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Under-constrained instructions, missing format requirements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39"/>
            <a:ext cx="731520" cy="4114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GND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5292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Groundedness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852927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Hallucination risk, claims without context anchoring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337559"/>
            <a:ext cx="731520" cy="4114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5584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Output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355847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Missing output schema, ambiguous response format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40479"/>
            <a:ext cx="731520" cy="4114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CON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858767"/>
            <a:ext cx="228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Constraint Coverage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4114800" y="3858767"/>
            <a:ext cx="6858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lang="en-GB" dirty="0"/>
              <a:t>Does the prompt cover edge cases and failure modes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914400" y="4343399"/>
            <a:ext cx="731520" cy="4114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CST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36168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361687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Contradictory instructions within the same prompt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846319"/>
            <a:ext cx="731520" cy="4114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TKN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6460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Token 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864607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Unnecessary verbosity relative to instruction density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349239"/>
            <a:ext cx="731520" cy="4114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INJ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36752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Injection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367527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Prompt injection surface area, missing delimiters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Calibri"/>
              </a:defRPr>
            </a:pPr>
            <a:r>
              <a:t>Each dimension scores 0 to 1. Weighted composite score. Configurable thresholds per dimension or aggregate.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PromptLint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4572000" cy="36576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4D"/>
                </a:solidFill>
                <a:latin typeface="Calibri"/>
              </a:defRPr>
            </a:pPr>
            <a:r>
              <a:t>JUnit Assertion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943600" cy="3937000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>
            <a:normAutofit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B74D"/>
                </a:solidFill>
                <a:latin typeface="Consolas"/>
              </a:rPr>
              <a:t>@Test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void </a:t>
            </a:r>
            <a:r>
              <a:rPr lang="en-US" sz="1000" dirty="0">
                <a:solidFill>
                  <a:srgbClr val="DCDCAA"/>
                </a:solidFill>
                <a:latin typeface="Consolas"/>
              </a:rPr>
              <a:t>shouldFetchAndValidate</a:t>
            </a:r>
            <a:r>
              <a:rPr lang="en-US" sz="1000" dirty="0">
                <a:solidFill>
                  <a:srgbClr val="00C97B"/>
                </a:solidFill>
                <a:latin typeface="Consolas"/>
              </a:rPr>
              <a:t>()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  String </a:t>
            </a:r>
            <a:r>
              <a:rPr lang="en-US" sz="1000" dirty="0">
                <a:solidFill>
                  <a:srgbClr val="9CDCFE"/>
                </a:solidFill>
                <a:latin typeface="Consolas"/>
              </a:rPr>
              <a:t>agentName</a:t>
            </a:r>
            <a:r>
              <a:rPr lang="en-US" sz="1000" dirty="0">
                <a:solidFill>
                  <a:srgbClr val="00C97B"/>
                </a:solidFill>
                <a:latin typeface="Consolas"/>
              </a:rPr>
              <a:t> = CSM_CLASSIFIER.getValue();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  Prompt </a:t>
            </a:r>
            <a:r>
              <a:rPr lang="en-US" sz="1000" dirty="0">
                <a:solidFill>
                  <a:srgbClr val="9CDCFE"/>
                </a:solidFill>
                <a:latin typeface="Consolas"/>
              </a:rPr>
              <a:t>prompt</a:t>
            </a:r>
            <a:r>
              <a:rPr lang="en-US" sz="1000" dirty="0">
                <a:solidFill>
                  <a:srgbClr val="00C97B"/>
                </a:solidFill>
                <a:latin typeface="Consolas"/>
              </a:rPr>
              <a:t> = nexusStoreProvider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C97B"/>
                </a:solidFill>
                <a:latin typeface="Consolas"/>
              </a:rPr>
              <a:t>      .prompts().lookup(agentName).get();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C97B"/>
                </a:solidFill>
                <a:latin typeface="Consolas"/>
              </a:rPr>
              <a:t>  assertNotNull(prompt);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600" dirty="0">
              <a:solidFill>
                <a:srgbClr val="00C97B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4EC9B0"/>
                </a:solidFill>
                <a:latin typeface="Consolas"/>
              </a:rPr>
              <a:t>  PromptUnderTest </a:t>
            </a:r>
            <a:r>
              <a:rPr lang="en-US" sz="1000" dirty="0">
                <a:solidFill>
                  <a:srgbClr val="9CDCFE"/>
                </a:solidFill>
                <a:latin typeface="Consolas"/>
              </a:rPr>
              <a:t>put</a:t>
            </a:r>
            <a:r>
              <a:rPr lang="en-US" sz="1000" dirty="0">
                <a:solidFill>
                  <a:srgbClr val="00C97B"/>
                </a:solidFill>
                <a:latin typeface="Consolas"/>
              </a:rPr>
              <a:t> = 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new </a:t>
            </a:r>
            <a:r>
              <a:rPr lang="en-US" sz="1000" dirty="0">
                <a:solidFill>
                  <a:srgbClr val="4EC9B0"/>
                </a:solidFill>
                <a:latin typeface="Consolas"/>
              </a:rPr>
              <a:t>PromptUnderTest</a:t>
            </a:r>
            <a:r>
              <a:rPr lang="en-US" sz="1000" dirty="0">
                <a:solidFill>
                  <a:srgbClr val="00C97B"/>
                </a:solidFill>
                <a:latin typeface="Consolas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C97B"/>
                </a:solidFill>
                <a:latin typeface="Consolas"/>
              </a:rPr>
              <a:t>      agentName,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C97B"/>
                </a:solidFill>
                <a:latin typeface="Consolas"/>
              </a:rPr>
              <a:t>      prompt.getSystemInstruction(),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C97B"/>
                </a:solidFill>
                <a:latin typeface="Consolas"/>
              </a:rPr>
              <a:t>      prompt.getPromptText(),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C97B"/>
                </a:solidFill>
                <a:latin typeface="Consolas"/>
              </a:rPr>
              <a:t>      Set.of(</a:t>
            </a:r>
            <a:r>
              <a:rPr lang="en-US" sz="1000" dirty="0">
                <a:solidFill>
                  <a:srgbClr val="CE9178"/>
                </a:solidFill>
                <a:latin typeface="Consolas"/>
              </a:rPr>
              <a:t>"gcsFilePath"</a:t>
            </a:r>
            <a:r>
              <a:rPr lang="en-US" sz="1000" dirty="0">
                <a:solidFill>
                  <a:srgbClr val="00C97B"/>
                </a:solidFill>
                <a:latin typeface="Consolas"/>
              </a:rPr>
              <a:t>, ...),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CE9178"/>
                </a:solidFill>
                <a:latin typeface="Consolas"/>
              </a:rPr>
              <a:t>      "output"</a:t>
            </a:r>
            <a:r>
              <a:rPr lang="en-US" sz="1000" dirty="0">
                <a:solidFill>
                  <a:srgbClr val="00C97B"/>
                </a:solidFill>
                <a:latin typeface="Consolas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C97B"/>
                </a:solidFill>
                <a:latin typeface="Consolas"/>
              </a:rPr>
              <a:t>      AgentTypeProfile.CLASSIFICATION,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C97B"/>
                </a:solidFill>
                <a:latin typeface="Consolas"/>
              </a:rPr>
              <a:t>      prompt.getResponseSchema());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600" dirty="0">
              <a:solidFill>
                <a:srgbClr val="00C97B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4EC9B0"/>
                </a:solidFill>
                <a:latin typeface="Consolas"/>
              </a:rPr>
              <a:t>  PromptQualityReport </a:t>
            </a:r>
            <a:r>
              <a:rPr lang="en-US" sz="1000" dirty="0">
                <a:solidFill>
                  <a:srgbClr val="9CDCFE"/>
                </a:solidFill>
                <a:latin typeface="Consolas"/>
              </a:rPr>
              <a:t>report</a:t>
            </a:r>
            <a:r>
              <a:rPr lang="en-US" sz="1000" dirty="0">
                <a:solidFill>
                  <a:srgbClr val="00C97B"/>
                </a:solidFill>
                <a:latin typeface="Consolas"/>
              </a:rPr>
              <a:t> =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C97B"/>
                </a:solidFill>
                <a:latin typeface="Consolas"/>
              </a:rPr>
              <a:t>      analyzer.analyze(put);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600" dirty="0">
              <a:solidFill>
                <a:srgbClr val="00C97B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C97B"/>
                </a:solidFill>
                <a:latin typeface="Consolas"/>
              </a:rPr>
              <a:t>  assertThat(report)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C97B"/>
                </a:solidFill>
                <a:latin typeface="Consolas"/>
              </a:rPr>
              <a:t>      .printReport(0.75)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C97B"/>
                </a:solidFill>
                <a:latin typeface="Consolas"/>
              </a:rPr>
              <a:t>      .passesThreshold(0.75)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C97B"/>
                </a:solidFill>
                <a:latin typeface="Consolas"/>
              </a:rPr>
              <a:t>      .hasNoCriticalIssues();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C97B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4D"/>
                </a:solidFill>
                <a:latin typeface="Calibri"/>
              </a:defRPr>
            </a:pPr>
            <a:r>
              <a:t>Test Execution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965960"/>
            <a:ext cx="4846320" cy="3937000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>
            <a:normAutofit fontScale="92500" lnSpcReduction="10000"/>
          </a:bodyPr>
          <a:lstStyle/>
          <a:p>
            <a:pPr algn="ctr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900" b="1" dirty="0">
                <a:solidFill>
                  <a:srgbClr val="FFB74D"/>
                </a:solidFill>
                <a:latin typeface="Consolas"/>
              </a:rPr>
              <a:t>PROMPT QUALITY REPORT: document-summarizer</a:t>
            </a:r>
          </a:p>
          <a:p>
            <a:pPr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800" dirty="0">
                <a:solidFill>
                  <a:srgbClr val="AAAAAA"/>
                </a:solidFill>
                <a:latin typeface="Consolas"/>
              </a:rPr>
              <a:t>Profile: EXTRACTION</a:t>
            </a:r>
          </a:p>
          <a:p>
            <a:pPr>
              <a:spcBef>
                <a:spcPts val="50"/>
              </a:spcBef>
              <a:spcAft>
                <a:spcPts val="50"/>
              </a:spcAft>
              <a:buNone/>
            </a:pPr>
            <a:endParaRPr lang="en-US" sz="400" dirty="0">
              <a:solidFill>
                <a:srgbClr val="00C97B"/>
              </a:solidFill>
              <a:latin typeface="Consolas"/>
            </a:endParaRPr>
          </a:p>
          <a:p>
            <a:pPr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C97B"/>
                </a:solidFill>
                <a:latin typeface="Consolas"/>
              </a:rPr>
              <a:t>Overall Score: 0.75 / 1.00  </a:t>
            </a:r>
            <a:r>
              <a:rPr lang="en-US" sz="900" b="1" dirty="0">
                <a:solidFill>
                  <a:srgbClr val="4CAF50"/>
                </a:solidFill>
                <a:latin typeface="Consolas"/>
              </a:rPr>
              <a:t>PASS</a:t>
            </a:r>
            <a:r>
              <a:rPr lang="en-US" sz="800" dirty="0">
                <a:solidFill>
                  <a:srgbClr val="AAAAAA"/>
                </a:solidFill>
                <a:latin typeface="Consolas"/>
              </a:rPr>
              <a:t> (threshold: 0.50)</a:t>
            </a:r>
          </a:p>
          <a:p>
            <a:pPr>
              <a:spcBef>
                <a:spcPts val="50"/>
              </a:spcBef>
              <a:spcAft>
                <a:spcPts val="50"/>
              </a:spcAft>
              <a:buNone/>
            </a:pPr>
            <a:endParaRPr lang="en-US" sz="400" dirty="0">
              <a:solidFill>
                <a:srgbClr val="00C97B"/>
              </a:solidFill>
              <a:latin typeface="Consolas"/>
            </a:endParaRPr>
          </a:p>
          <a:p>
            <a:pPr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800" b="1" dirty="0">
                <a:solidFill>
                  <a:srgbClr val="AAAAAA"/>
                </a:solidFill>
                <a:latin typeface="Consolas"/>
              </a:rPr>
              <a:t>Dimension          Score  Weight  Contrib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00C97B"/>
                </a:solidFill>
                <a:latin typeface="Consolas"/>
              </a:rPr>
              <a:t>CLARITY             1.00   0.10    0.100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00C97B"/>
                </a:solidFill>
                <a:latin typeface="Consolas"/>
              </a:rPr>
              <a:t>SPECIFICITY         0.58   0.15    0.088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00C97B"/>
                </a:solidFill>
                <a:latin typeface="Consolas"/>
              </a:rPr>
              <a:t>GROUNDEDNESS        0.92   0.25    0.229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00C97B"/>
                </a:solidFill>
                <a:latin typeface="Consolas"/>
              </a:rPr>
              <a:t>OUTPUT_CONTRACT     0.83   0.15    0.125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E84D4D"/>
                </a:solidFill>
                <a:latin typeface="Consolas"/>
              </a:rPr>
              <a:t>CONSTRAINT_COVERAGE 0.20   0.15    0.030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00C97B"/>
                </a:solidFill>
                <a:latin typeface="Consolas"/>
              </a:rPr>
              <a:t>CONSISTENCY         1.00   0.10    0.100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00C97B"/>
                </a:solidFill>
                <a:latin typeface="Consolas"/>
              </a:rPr>
              <a:t>TOKEN_EFFICIENCY    1.00   0.05    0.050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00C97B"/>
                </a:solidFill>
                <a:latin typeface="Consolas"/>
              </a:rPr>
              <a:t>INJECTION_RESISTANCE 0.63  0.05    0.031</a:t>
            </a:r>
          </a:p>
          <a:p>
            <a:pPr>
              <a:spcBef>
                <a:spcPts val="50"/>
              </a:spcBef>
              <a:spcAft>
                <a:spcPts val="50"/>
              </a:spcAft>
              <a:buNone/>
            </a:pPr>
            <a:endParaRPr lang="en-US" sz="400" dirty="0">
              <a:solidFill>
                <a:srgbClr val="00C97B"/>
              </a:solidFill>
              <a:latin typeface="Consolas"/>
            </a:endParaRPr>
          </a:p>
          <a:p>
            <a:pPr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800" b="1" dirty="0">
                <a:solidFill>
                  <a:srgbClr val="E84D4D"/>
                </a:solidFill>
                <a:latin typeface="Consolas"/>
              </a:rPr>
              <a:t>Weakest: CONSTRAINT_COVERAGE (0.20)</a:t>
            </a:r>
          </a:p>
          <a:p>
            <a:pPr>
              <a:spcBef>
                <a:spcPts val="50"/>
              </a:spcBef>
              <a:spcAft>
                <a:spcPts val="50"/>
              </a:spcAft>
              <a:buNone/>
            </a:pPr>
            <a:endParaRPr lang="en-US" sz="400" dirty="0">
              <a:solidFill>
                <a:srgbClr val="00C97B"/>
              </a:solidFill>
              <a:latin typeface="Consolas"/>
            </a:endParaRPr>
          </a:p>
          <a:p>
            <a:pPr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800" dirty="0">
                <a:solidFill>
                  <a:srgbClr val="AAAAAA"/>
                </a:solidFill>
                <a:latin typeface="Consolas"/>
              </a:rPr>
              <a:t>Issues: 9 total (0 critical, 3 warning, 6 info)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FFB74D"/>
                </a:solidFill>
                <a:latin typeface="Consolas"/>
              </a:rPr>
              <a:t>WARN [SPC-004] No positive examples found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FFB74D"/>
                </a:solidFill>
                <a:latin typeface="Consolas"/>
              </a:rPr>
              <a:t>WARN [CON-001] No instructions for empty input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FFB74D"/>
                </a:solidFill>
                <a:latin typeface="Consolas"/>
              </a:rPr>
              <a:t>WARN [INJ-001] No defence against embedded prompts</a:t>
            </a:r>
          </a:p>
          <a:p>
            <a:pPr>
              <a:spcBef>
                <a:spcPts val="50"/>
              </a:spcBef>
              <a:spcAft>
                <a:spcPts val="50"/>
              </a:spcAft>
              <a:buNone/>
            </a:pPr>
            <a:endParaRPr lang="en-US" sz="400" dirty="0">
              <a:solidFill>
                <a:srgbClr val="00C97B"/>
              </a:solidFill>
              <a:latin typeface="Consolas"/>
            </a:endParaRPr>
          </a:p>
          <a:p>
            <a:pPr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800" b="1" dirty="0">
                <a:solidFill>
                  <a:srgbClr val="AAAAAA"/>
                </a:solidFill>
                <a:latin typeface="Consolas"/>
              </a:rPr>
              <a:t>Suggestions: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00C97B"/>
                </a:solidFill>
                <a:latin typeface="Consolas"/>
              </a:rPr>
              <a:t>1. Add 2+ positive examples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00C97B"/>
                </a:solidFill>
                <a:latin typeface="Consolas"/>
              </a:rPr>
              <a:t>2. Use proper JSON types: "id": 1 not "1"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00C97B"/>
                </a:solidFill>
                <a:latin typeface="Consolas"/>
              </a:rPr>
              <a:t>3. Show nullable fields as null in example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00C97B"/>
                </a:solidFill>
                <a:latin typeface="Consolas"/>
              </a:rPr>
              <a:t>4. Add empty input handling instruction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00C97B"/>
                </a:solidFill>
                <a:latin typeface="Consolas"/>
              </a:rPr>
              <a:t>5. Add ambiguous case guidance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800" dirty="0">
                <a:solidFill>
                  <a:srgbClr val="00C97B"/>
                </a:solidFill>
                <a:latin typeface="Consolas"/>
              </a:rPr>
              <a:t>6. Add prompt injection defence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600" y="600456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B74D"/>
                </a:solidFill>
                <a:latin typeface="Calibri"/>
              </a:defRPr>
            </a:pPr>
            <a:r>
              <a:rPr dirty="0"/>
              <a:t>No extra service, no API key, no network call. Just a dependency on the </a:t>
            </a:r>
            <a:r>
              <a:rPr dirty="0" err="1"/>
              <a:t>classpath</a:t>
            </a:r>
            <a:r>
              <a:rPr dirty="0"/>
              <a:t>. Runs in milliseconds.</a:t>
            </a:r>
          </a:p>
        </p:txBody>
      </p:sp>
    </p:spTree>
    <p:extLst>
      <p:ext uri="{BB962C8B-B14F-4D97-AF65-F5344CB8AC3E}">
        <p14:creationId xmlns:p14="http://schemas.microsoft.com/office/powerpoint/2010/main" val="325153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Adopt Nexus AI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5720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Three dependencies. A few properties. You have the whole framework.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486400" cy="4114800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6A9955"/>
                </a:solidFill>
                <a:latin typeface="Consolas"/>
              </a:rPr>
              <a:t>&lt;!-- Nexus AI, workflow + agent pipeline --&gt;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&lt;dependency&gt;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  &lt;groupId&gt;</a:t>
            </a:r>
            <a:r>
              <a:rPr lang="en-US" sz="1000" dirty="0">
                <a:solidFill>
                  <a:srgbClr val="CE9178"/>
                </a:solidFill>
                <a:latin typeface="Consolas"/>
              </a:rPr>
              <a:t>com.db.clm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&lt;/groupId&gt;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  &lt;artifactId&gt;</a:t>
            </a:r>
            <a:r>
              <a:rPr lang="en-US" sz="1000" dirty="0">
                <a:solidFill>
                  <a:srgbClr val="CE9178"/>
                </a:solidFill>
                <a:latin typeface="Consolas"/>
              </a:rPr>
              <a:t>nexus-ai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&lt;/artifactId&gt;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  &lt;version&gt;</a:t>
            </a:r>
            <a:r>
              <a:rPr lang="en-US" sz="1000" dirty="0">
                <a:solidFill>
                  <a:srgbClr val="FFB74D"/>
                </a:solidFill>
                <a:latin typeface="Consolas"/>
              </a:rPr>
              <a:t>LATEST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&lt;/version&gt;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&lt;/dependency&gt;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en-US" sz="400" dirty="0">
              <a:solidFill>
                <a:srgbClr val="00C97B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6A9955"/>
                </a:solidFill>
                <a:latin typeface="Consolas"/>
              </a:rPr>
              <a:t>&lt;!-- Nexus AI Studio, graph viz UI --&gt;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&lt;dependency&gt;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  &lt;groupId&gt;</a:t>
            </a:r>
            <a:r>
              <a:rPr lang="en-US" sz="1000" dirty="0">
                <a:solidFill>
                  <a:srgbClr val="CE9178"/>
                </a:solidFill>
                <a:latin typeface="Consolas"/>
              </a:rPr>
              <a:t>com.db.clm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&lt;/groupId&gt;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  &lt;artifactId&gt;</a:t>
            </a:r>
            <a:r>
              <a:rPr lang="en-US" sz="1000" dirty="0">
                <a:solidFill>
                  <a:srgbClr val="CE9178"/>
                </a:solidFill>
                <a:latin typeface="Consolas"/>
              </a:rPr>
              <a:t>nexus-ai-studio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&lt;/artifactId&gt;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  &lt;version&gt;</a:t>
            </a:r>
            <a:r>
              <a:rPr lang="en-US" sz="1000" dirty="0">
                <a:solidFill>
                  <a:srgbClr val="FFB74D"/>
                </a:solidFill>
                <a:latin typeface="Consolas"/>
              </a:rPr>
              <a:t>LATEST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&lt;/version&gt;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&lt;/dependency&gt;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en-US" sz="400" dirty="0">
              <a:solidFill>
                <a:srgbClr val="00C97B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6A9955"/>
                </a:solidFill>
                <a:latin typeface="Consolas"/>
              </a:rPr>
              <a:t>&lt;!-- PromptLint, static prompt analyser --&gt;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&lt;dependency&gt;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  &lt;groupId&gt;</a:t>
            </a:r>
            <a:r>
              <a:rPr lang="en-US" sz="1000" dirty="0">
                <a:solidFill>
                  <a:srgbClr val="CE9178"/>
                </a:solidFill>
                <a:latin typeface="Consolas"/>
              </a:rPr>
              <a:t>com.db.clm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&lt;/groupId&gt;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  &lt;artifactId&gt;</a:t>
            </a:r>
            <a:r>
              <a:rPr lang="en-US" sz="1000" dirty="0">
                <a:solidFill>
                  <a:srgbClr val="CE9178"/>
                </a:solidFill>
                <a:latin typeface="Consolas"/>
              </a:rPr>
              <a:t>clm-prompt-lint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&lt;/artifactId&gt;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  &lt;version&gt;</a:t>
            </a:r>
            <a:r>
              <a:rPr lang="en-US" sz="1000" dirty="0">
                <a:solidFill>
                  <a:srgbClr val="FFB74D"/>
                </a:solidFill>
                <a:latin typeface="Consolas"/>
              </a:rPr>
              <a:t>LATEST</a:t>
            </a:r>
            <a:r>
              <a:rPr lang="en-US" sz="1000" dirty="0">
                <a:solidFill>
                  <a:srgbClr val="569CD6"/>
                </a:solidFill>
                <a:latin typeface="Consolas"/>
              </a:rPr>
              <a:t>&lt;/version&gt;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69CD6"/>
                </a:solidFill>
                <a:latin typeface="Consolas"/>
              </a:rPr>
              <a:t>&lt;/dependency&gt;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4D"/>
                </a:solidFill>
                <a:latin typeface="Calibri"/>
              </a:defRPr>
            </a:pPr>
            <a:r>
              <a:t>application-local.yaml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103120"/>
            <a:ext cx="5029200" cy="3749039"/>
          </a:xfrm>
          <a:prstGeom prst="round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>
            <a:normAutofit fontScale="92500" lnSpcReduction="1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clm: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nexus: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ai: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enabled: </a:t>
            </a:r>
            <a:r>
              <a:rPr lang="en-US" sz="900" dirty="0">
                <a:solidFill>
                  <a:srgbClr val="4EC9B0"/>
                </a:solidFill>
                <a:latin typeface="Consolas"/>
              </a:rPr>
              <a:t>true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wif: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wif_provider: </a:t>
            </a:r>
            <a:r>
              <a:rPr lang="en-US" sz="900" dirty="0">
                <a:solidFill>
                  <a:srgbClr val="CE9178"/>
                </a:solidFill>
                <a:latin typeface="Consolas"/>
              </a:rPr>
              <a:t>/path/provider.json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wif_keystore: </a:t>
            </a:r>
            <a:r>
              <a:rPr lang="en-US" sz="900" dirty="0">
                <a:solidFill>
                  <a:srgbClr val="CE9178"/>
                </a:solidFill>
                <a:latin typeface="Consolas"/>
              </a:rPr>
              <a:t>/path/keystore.json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azure: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tenant_id: </a:t>
            </a:r>
            <a:r>
              <a:rPr lang="en-US" sz="900" dirty="0">
                <a:solidFill>
                  <a:srgbClr val="FFB74D"/>
                </a:solidFill>
                <a:latin typeface="Consolas"/>
              </a:rPr>
              <a:t>ENC(...)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client_id: </a:t>
            </a:r>
            <a:r>
              <a:rPr lang="en-US" sz="900" dirty="0">
                <a:solidFill>
                  <a:srgbClr val="FFB74D"/>
                </a:solidFill>
                <a:latin typeface="Consolas"/>
              </a:rPr>
              <a:t>ENC(...)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scope: </a:t>
            </a:r>
            <a:r>
              <a:rPr lang="en-US" sz="900" dirty="0">
                <a:solidFill>
                  <a:srgbClr val="CE9178"/>
                </a:solidFill>
                <a:latin typeface="Consolas"/>
              </a:rPr>
              <a:t>api://.../.default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grant_type: </a:t>
            </a:r>
            <a:r>
              <a:rPr lang="en-US" sz="900" dirty="0">
                <a:solidFill>
                  <a:srgbClr val="CE9178"/>
                </a:solidFill>
                <a:latin typeface="Consolas"/>
              </a:rPr>
              <a:t>client_credentials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google: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project_id: </a:t>
            </a:r>
            <a:r>
              <a:rPr lang="en-US" sz="900" dirty="0">
                <a:solidFill>
                  <a:srgbClr val="CE9178"/>
                </a:solidFill>
                <a:latin typeface="Consolas"/>
              </a:rPr>
              <a:t>db-dev-daa2-dbclm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location: </a:t>
            </a:r>
            <a:r>
              <a:rPr lang="en-US" sz="900" dirty="0">
                <a:solidFill>
                  <a:srgbClr val="CE9178"/>
                </a:solidFill>
                <a:latin typeface="Consolas"/>
              </a:rPr>
              <a:t>europe-west4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transport: </a:t>
            </a:r>
            <a:r>
              <a:rPr lang="en-US" sz="900" dirty="0">
                <a:solidFill>
                  <a:srgbClr val="CE9178"/>
                </a:solidFill>
                <a:latin typeface="Consolas"/>
              </a:rPr>
              <a:t>REST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credentials: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  project_number: </a:t>
            </a:r>
            <a:r>
              <a:rPr lang="en-US" sz="900" dirty="0">
                <a:solidFill>
                  <a:srgbClr val="FFB74D"/>
                </a:solidFill>
                <a:latin typeface="Consolas"/>
              </a:rPr>
              <a:t>ENC(...)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  workload_identity_pool_id: </a:t>
            </a:r>
            <a:r>
              <a:rPr lang="en-US" sz="900" dirty="0">
                <a:solidFill>
                  <a:srgbClr val="FFB74D"/>
                </a:solidFill>
                <a:latin typeface="Consolas"/>
              </a:rPr>
              <a:t>ENC(...)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  service_account_email: </a:t>
            </a:r>
            <a:r>
              <a:rPr lang="en-US" sz="900" dirty="0">
                <a:solidFill>
                  <a:srgbClr val="FFB74D"/>
                </a:solidFill>
                <a:latin typeface="Consolas"/>
              </a:rPr>
              <a:t>ENC(...)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rate-limit: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enabled: </a:t>
            </a:r>
            <a:r>
              <a:rPr lang="en-US" sz="900" dirty="0">
                <a:solidFill>
                  <a:srgbClr val="4EC9B0"/>
                </a:solidFill>
                <a:latin typeface="Consolas"/>
              </a:rPr>
              <a:t>true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requests-per-second: </a:t>
            </a:r>
            <a:r>
              <a:rPr lang="en-US" sz="900" dirty="0">
                <a:solidFill>
                  <a:srgbClr val="B5CEA8"/>
                </a:solidFill>
                <a:latin typeface="Consolas"/>
              </a:rPr>
              <a:t>0.5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max-bucket-size: </a:t>
            </a:r>
            <a:r>
              <a:rPr lang="en-US" sz="900" dirty="0">
                <a:solidFill>
                  <a:srgbClr val="B5CEA8"/>
                </a:solidFill>
                <a:latin typeface="Consolas"/>
              </a:rPr>
              <a:t>10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studio: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enabled: </a:t>
            </a:r>
            <a:r>
              <a:rPr lang="en-US" sz="900" dirty="0">
                <a:solidFill>
                  <a:srgbClr val="4EC9B0"/>
                </a:solidFill>
                <a:latin typeface="Consolas"/>
              </a:rPr>
              <a:t>true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nsolas"/>
              </a:rPr>
              <a:t>        path: </a:t>
            </a:r>
            <a:r>
              <a:rPr lang="en-US" sz="900" dirty="0">
                <a:solidFill>
                  <a:srgbClr val="CE9178"/>
                </a:solidFill>
                <a:latin typeface="Consolas"/>
              </a:rPr>
              <a:t>/studio</a:t>
            </a:r>
          </a:p>
        </p:txBody>
      </p:sp>
    </p:spTree>
    <p:extLst>
      <p:ext uri="{BB962C8B-B14F-4D97-AF65-F5344CB8AC3E}">
        <p14:creationId xmlns:p14="http://schemas.microsoft.com/office/powerpoint/2010/main" val="2959822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6D6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5720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Akshay Dipta, CLM Tech, Senior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0493FD3-704E-E34E-BC74-F9BB6B930EB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e65ad1d-524f-4088-87e1-12277f3c41d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2852</Words>
  <Application>Microsoft Macintosh PowerPoint</Application>
  <PresentationFormat>Widescreen</PresentationFormat>
  <Paragraphs>485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Akshay Dipta</cp:lastModifiedBy>
  <cp:revision>3</cp:revision>
  <dcterms:created xsi:type="dcterms:W3CDTF">2013-01-27T09:14:16Z</dcterms:created>
  <dcterms:modified xsi:type="dcterms:W3CDTF">2026-06-10T14:42:54Z</dcterms:modified>
  <cp:category/>
</cp:coreProperties>
</file>