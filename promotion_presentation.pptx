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98"/>
    <p:restoredTop sz="94639"/>
  </p:normalViewPr>
  <p:slideViewPr>
    <p:cSldViewPr snapToGrid="0" snapToObjects="1">
      <p:cViewPr varScale="1">
        <p:scale>
          <a:sx n="116" d="100"/>
          <a:sy n="116" d="100"/>
        </p:scale>
        <p:origin x="208" y="9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E96"/>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058400" cy="1371600"/>
          </a:xfrm>
          <a:prstGeom prst="rect">
            <a:avLst/>
          </a:prstGeom>
          <a:noFill/>
        </p:spPr>
        <p:txBody>
          <a:bodyPr wrap="square">
            <a:spAutoFit/>
          </a:bodyPr>
          <a:lstStyle/>
          <a:p>
            <a:pPr algn="ctr">
              <a:defRPr sz="4800" b="1">
                <a:solidFill>
                  <a:srgbClr val="FFFFFF"/>
                </a:solidFill>
                <a:latin typeface="Calibri"/>
              </a:defRPr>
            </a:pPr>
            <a:r>
              <a:t>Akshay Dipta</a:t>
            </a:r>
          </a:p>
        </p:txBody>
      </p:sp>
      <p:sp>
        <p:nvSpPr>
          <p:cNvPr id="3" name="TextBox 2"/>
          <p:cNvSpPr txBox="1"/>
          <p:nvPr/>
        </p:nvSpPr>
        <p:spPr>
          <a:xfrm>
            <a:off x="914400" y="2743200"/>
            <a:ext cx="10058400" cy="731520"/>
          </a:xfrm>
          <a:prstGeom prst="rect">
            <a:avLst/>
          </a:prstGeom>
          <a:noFill/>
        </p:spPr>
        <p:txBody>
          <a:bodyPr wrap="square">
            <a:spAutoFit/>
          </a:bodyPr>
          <a:lstStyle/>
          <a:p>
            <a:pPr algn="ctr">
              <a:defRPr sz="3200" b="0">
                <a:solidFill>
                  <a:srgbClr val="CCCCFF"/>
                </a:solidFill>
                <a:latin typeface="Calibri"/>
              </a:defRPr>
            </a:pPr>
            <a:r>
              <a:t>VP Promotion — Senior Engineer</a:t>
            </a:r>
          </a:p>
        </p:txBody>
      </p:sp>
      <p:sp>
        <p:nvSpPr>
          <p:cNvPr id="4" name="TextBox 3"/>
          <p:cNvSpPr txBox="1"/>
          <p:nvPr/>
        </p:nvSpPr>
        <p:spPr>
          <a:xfrm>
            <a:off x="914400" y="3840480"/>
            <a:ext cx="10058400" cy="548640"/>
          </a:xfrm>
          <a:prstGeom prst="rect">
            <a:avLst/>
          </a:prstGeom>
          <a:noFill/>
        </p:spPr>
        <p:txBody>
          <a:bodyPr wrap="square">
            <a:spAutoFit/>
          </a:bodyPr>
          <a:lstStyle/>
          <a:p>
            <a:pPr algn="ctr">
              <a:defRPr sz="2000" b="0">
                <a:solidFill>
                  <a:srgbClr val="FFFFFF"/>
                </a:solidFill>
                <a:latin typeface="Calibri"/>
              </a:defRPr>
            </a:pPr>
            <a:r>
              <a:t>London Cadbury Team  |  Client Life Cycle Management  |  London</a:t>
            </a:r>
          </a:p>
        </p:txBody>
      </p:sp>
      <p:sp>
        <p:nvSpPr>
          <p:cNvPr id="5" name="TextBox 4"/>
          <p:cNvSpPr txBox="1"/>
          <p:nvPr/>
        </p:nvSpPr>
        <p:spPr>
          <a:xfrm>
            <a:off x="914400" y="5029200"/>
            <a:ext cx="10058400" cy="457200"/>
          </a:xfrm>
          <a:prstGeom prst="rect">
            <a:avLst/>
          </a:prstGeom>
          <a:noFill/>
        </p:spPr>
        <p:txBody>
          <a:bodyPr wrap="square">
            <a:spAutoFit/>
          </a:bodyPr>
          <a:lstStyle/>
          <a:p>
            <a:pPr algn="ctr">
              <a:defRPr sz="1600" b="0">
                <a:solidFill>
                  <a:srgbClr val="9999CC"/>
                </a:solidFill>
                <a:latin typeface="Calibri"/>
              </a:defRPr>
            </a:pPr>
            <a:r>
              <a:t>Deutsche Bank — Technology, Data and Innovation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731520"/>
          </a:xfrm>
          <a:prstGeom prst="rect">
            <a:avLst/>
          </a:prstGeom>
          <a:noFill/>
        </p:spPr>
        <p:txBody>
          <a:bodyPr wrap="square">
            <a:spAutoFit/>
          </a:bodyPr>
          <a:lstStyle/>
          <a:p>
            <a:pPr algn="l">
              <a:defRPr sz="3600" b="1">
                <a:solidFill>
                  <a:srgbClr val="001E96"/>
                </a:solidFill>
                <a:latin typeface="Calibri"/>
              </a:defRPr>
            </a:pPr>
            <a:r>
              <a:t>About Me</a:t>
            </a:r>
          </a:p>
        </p:txBody>
      </p:sp>
      <p:sp>
        <p:nvSpPr>
          <p:cNvPr id="3" name="Rounded Rectangle 2"/>
          <p:cNvSpPr/>
          <p:nvPr/>
        </p:nvSpPr>
        <p:spPr>
          <a:xfrm>
            <a:off x="731520" y="1371600"/>
            <a:ext cx="5029200" cy="10972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200" b="1">
                <a:solidFill>
                  <a:srgbClr val="001E96"/>
                </a:solidFill>
              </a:defRPr>
            </a:pPr>
            <a:r>
              <a:t>13 Years in Financial Technology</a:t>
            </a:r>
          </a:p>
        </p:txBody>
      </p:sp>
      <p:sp>
        <p:nvSpPr>
          <p:cNvPr id="4" name="TextBox 3"/>
          <p:cNvSpPr txBox="1"/>
          <p:nvPr/>
        </p:nvSpPr>
        <p:spPr>
          <a:xfrm>
            <a:off x="914400" y="2651760"/>
            <a:ext cx="4572000" cy="2286000"/>
          </a:xfrm>
          <a:prstGeom prst="rect">
            <a:avLst/>
          </a:prstGeom>
          <a:noFill/>
        </p:spPr>
        <p:txBody>
          <a:bodyPr wrap="square">
            <a:spAutoFit/>
          </a:bodyPr>
          <a:lstStyle/>
          <a:p>
            <a:pPr>
              <a:spcBef>
                <a:spcPts val="800"/>
              </a:spcBef>
              <a:defRPr sz="1700" b="0">
                <a:solidFill>
                  <a:srgbClr val="333333"/>
                </a:solidFill>
                <a:latin typeface="Calibri"/>
              </a:defRPr>
            </a:pPr>
            <a:r>
              <a:t>JP Morgan  ·  HSBC  ·  American Express  ·  Deutsche Bank</a:t>
            </a:r>
          </a:p>
          <a:p>
            <a:pPr>
              <a:spcBef>
                <a:spcPts val="800"/>
              </a:spcBef>
              <a:defRPr sz="1700" b="0">
                <a:solidFill>
                  <a:srgbClr val="333333"/>
                </a:solidFill>
                <a:latin typeface="Calibri"/>
              </a:defRPr>
            </a:pPr>
            <a:r>
              <a:t>Joined Deutsche Bank: March 2023</a:t>
            </a:r>
          </a:p>
          <a:p>
            <a:pPr>
              <a:spcBef>
                <a:spcPts val="800"/>
              </a:spcBef>
              <a:defRPr sz="1700" b="0">
                <a:solidFill>
                  <a:srgbClr val="333333"/>
                </a:solidFill>
                <a:latin typeface="Calibri"/>
              </a:defRPr>
            </a:pPr>
            <a:r>
              <a:t>Java  ·  Spring Boot  ·  Kafka  ·  AI/ML  ·  Microservices</a:t>
            </a:r>
          </a:p>
        </p:txBody>
      </p:sp>
      <p:sp>
        <p:nvSpPr>
          <p:cNvPr id="5" name="Rounded Rectangle 4"/>
          <p:cNvSpPr/>
          <p:nvPr/>
        </p:nvSpPr>
        <p:spPr>
          <a:xfrm>
            <a:off x="6217920" y="1371600"/>
            <a:ext cx="5029200" cy="109728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200" b="1">
                <a:solidFill>
                  <a:srgbClr val="001E96"/>
                </a:solidFill>
              </a:defRPr>
            </a:pPr>
            <a:r>
              <a:t>My Roles at Deutsche Bank</a:t>
            </a:r>
          </a:p>
        </p:txBody>
      </p:sp>
      <p:sp>
        <p:nvSpPr>
          <p:cNvPr id="6" name="TextBox 5"/>
          <p:cNvSpPr txBox="1"/>
          <p:nvPr/>
        </p:nvSpPr>
        <p:spPr>
          <a:xfrm>
            <a:off x="6400800" y="2651760"/>
            <a:ext cx="4572000" cy="2286000"/>
          </a:xfrm>
          <a:prstGeom prst="rect">
            <a:avLst/>
          </a:prstGeom>
          <a:noFill/>
        </p:spPr>
        <p:txBody>
          <a:bodyPr wrap="square">
            <a:spAutoFit/>
          </a:bodyPr>
          <a:lstStyle/>
          <a:p>
            <a:pPr>
              <a:spcBef>
                <a:spcPts val="800"/>
              </a:spcBef>
              <a:defRPr sz="1700" b="0">
                <a:solidFill>
                  <a:srgbClr val="333333"/>
                </a:solidFill>
                <a:latin typeface="Calibri"/>
              </a:defRPr>
            </a:pPr>
            <a:r>
              <a:t>AI Lead — business unit AI capability</a:t>
            </a:r>
          </a:p>
          <a:p>
            <a:pPr>
              <a:spcBef>
                <a:spcPts val="800"/>
              </a:spcBef>
              <a:defRPr sz="1700" b="0">
                <a:solidFill>
                  <a:srgbClr val="333333"/>
                </a:solidFill>
                <a:latin typeface="Calibri"/>
              </a:defRPr>
            </a:pPr>
            <a:r>
              <a:t>Technical Authority — messaging &amp; AI infrastructure</a:t>
            </a:r>
          </a:p>
          <a:p>
            <a:pPr>
              <a:spcBef>
                <a:spcPts val="800"/>
              </a:spcBef>
              <a:defRPr sz="1700" b="0">
                <a:solidFill>
                  <a:srgbClr val="333333"/>
                </a:solidFill>
                <a:latin typeface="Calibri"/>
              </a:defRPr>
            </a:pPr>
            <a:r>
              <a:t>Component Guardian — Kafka &amp; application health</a:t>
            </a:r>
          </a:p>
          <a:p>
            <a:pPr>
              <a:spcBef>
                <a:spcPts val="800"/>
              </a:spcBef>
              <a:defRPr sz="1700" b="0">
                <a:solidFill>
                  <a:srgbClr val="333333"/>
                </a:solidFill>
                <a:latin typeface="Calibri"/>
              </a:defRPr>
            </a:pPr>
            <a:r>
              <a:t>Every design change and code approval goes through 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731520"/>
          </a:xfrm>
          <a:prstGeom prst="rect">
            <a:avLst/>
          </a:prstGeom>
          <a:noFill/>
        </p:spPr>
        <p:txBody>
          <a:bodyPr wrap="square">
            <a:spAutoFit/>
          </a:bodyPr>
          <a:lstStyle/>
          <a:p>
            <a:pPr algn="l">
              <a:defRPr sz="3400" b="1">
                <a:solidFill>
                  <a:srgbClr val="001E96"/>
                </a:solidFill>
                <a:latin typeface="Calibri"/>
              </a:defRPr>
            </a:pPr>
            <a:r>
              <a:t>My Platform — Know Your Customer (KYC)</a:t>
            </a:r>
          </a:p>
        </p:txBody>
      </p:sp>
      <p:sp>
        <p:nvSpPr>
          <p:cNvPr id="3" name="TextBox 2"/>
          <p:cNvSpPr txBox="1"/>
          <p:nvPr/>
        </p:nvSpPr>
        <p:spPr>
          <a:xfrm>
            <a:off x="731520" y="1188720"/>
            <a:ext cx="10058400" cy="731520"/>
          </a:xfrm>
          <a:prstGeom prst="rect">
            <a:avLst/>
          </a:prstGeom>
          <a:noFill/>
        </p:spPr>
        <p:txBody>
          <a:bodyPr wrap="square">
            <a:spAutoFit/>
          </a:bodyPr>
          <a:lstStyle/>
          <a:p>
            <a:pPr algn="l">
              <a:defRPr sz="2000" b="0">
                <a:solidFill>
                  <a:srgbClr val="333333"/>
                </a:solidFill>
                <a:latin typeface="Calibri"/>
              </a:defRPr>
            </a:pPr>
            <a:r>
              <a:t>Client Life Cycle Management is the team that runs KYC for Deutsche Bank — verifying who our clients are, checking their documents, and ensuring the bank meets its regulatory obligations.</a:t>
            </a:r>
          </a:p>
        </p:txBody>
      </p:sp>
      <p:sp>
        <p:nvSpPr>
          <p:cNvPr id="4" name="Rounded Rectangle 3"/>
          <p:cNvSpPr/>
          <p:nvPr/>
        </p:nvSpPr>
        <p:spPr>
          <a:xfrm>
            <a:off x="731520" y="2560320"/>
            <a:ext cx="2194560" cy="146304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1800" b="1">
                <a:solidFill>
                  <a:srgbClr val="FFFFFF"/>
                </a:solidFill>
              </a:defRPr>
            </a:pPr>
            <a:r>
              <a:t>Document</a:t>
            </a:r>
            <a:br/>
            <a:r>
              <a:t>Upload</a:t>
            </a:r>
          </a:p>
        </p:txBody>
      </p:sp>
      <p:sp>
        <p:nvSpPr>
          <p:cNvPr id="5" name="Rounded Rectangle 4"/>
          <p:cNvSpPr/>
          <p:nvPr/>
        </p:nvSpPr>
        <p:spPr>
          <a:xfrm>
            <a:off x="3291840" y="2560320"/>
            <a:ext cx="2194560" cy="146304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1800" b="1">
                <a:solidFill>
                  <a:srgbClr val="FFFFFF"/>
                </a:solidFill>
              </a:defRPr>
            </a:pPr>
            <a:r>
              <a:t>Auto-</a:t>
            </a:r>
            <a:br/>
            <a:r>
              <a:t>Association</a:t>
            </a:r>
          </a:p>
        </p:txBody>
      </p:sp>
      <p:sp>
        <p:nvSpPr>
          <p:cNvPr id="6" name="Rounded Rectangle 5"/>
          <p:cNvSpPr/>
          <p:nvPr/>
        </p:nvSpPr>
        <p:spPr>
          <a:xfrm>
            <a:off x="5852160" y="2560320"/>
            <a:ext cx="2194560" cy="146304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1800" b="1">
                <a:solidFill>
                  <a:srgbClr val="FFFFFF"/>
                </a:solidFill>
              </a:defRPr>
            </a:pPr>
            <a:r>
              <a:t>Validity</a:t>
            </a:r>
            <a:br/>
            <a:r>
              <a:t>Check</a:t>
            </a:r>
          </a:p>
        </p:txBody>
      </p:sp>
      <p:sp>
        <p:nvSpPr>
          <p:cNvPr id="7" name="Rounded Rectangle 6"/>
          <p:cNvSpPr/>
          <p:nvPr/>
        </p:nvSpPr>
        <p:spPr>
          <a:xfrm>
            <a:off x="8412480" y="2560320"/>
            <a:ext cx="2194560" cy="1463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1800" b="1">
                <a:solidFill>
                  <a:srgbClr val="FFFFFF"/>
                </a:solidFill>
              </a:defRPr>
            </a:pPr>
            <a:r>
              <a:t>Compliance</a:t>
            </a:r>
            <a:br/>
            <a:r>
              <a:t>Ready</a:t>
            </a:r>
          </a:p>
        </p:txBody>
      </p:sp>
      <p:sp>
        <p:nvSpPr>
          <p:cNvPr id="8" name="TextBox 7"/>
          <p:cNvSpPr txBox="1"/>
          <p:nvPr/>
        </p:nvSpPr>
        <p:spPr>
          <a:xfrm>
            <a:off x="3017520" y="2926080"/>
            <a:ext cx="731520" cy="731520"/>
          </a:xfrm>
          <a:prstGeom prst="rect">
            <a:avLst/>
          </a:prstGeom>
          <a:noFill/>
        </p:spPr>
        <p:txBody>
          <a:bodyPr wrap="square">
            <a:spAutoFit/>
          </a:bodyPr>
          <a:lstStyle/>
          <a:p>
            <a:pPr algn="ctr">
              <a:defRPr sz="3600" b="1">
                <a:solidFill>
                  <a:srgbClr val="001E96"/>
                </a:solidFill>
                <a:latin typeface="Calibri"/>
              </a:defRPr>
            </a:pPr>
            <a:r>
              <a:t>→</a:t>
            </a:r>
          </a:p>
        </p:txBody>
      </p:sp>
      <p:sp>
        <p:nvSpPr>
          <p:cNvPr id="9" name="TextBox 8"/>
          <p:cNvSpPr txBox="1"/>
          <p:nvPr/>
        </p:nvSpPr>
        <p:spPr>
          <a:xfrm>
            <a:off x="5577840" y="2926080"/>
            <a:ext cx="731520" cy="731520"/>
          </a:xfrm>
          <a:prstGeom prst="rect">
            <a:avLst/>
          </a:prstGeom>
          <a:noFill/>
        </p:spPr>
        <p:txBody>
          <a:bodyPr wrap="square">
            <a:spAutoFit/>
          </a:bodyPr>
          <a:lstStyle/>
          <a:p>
            <a:pPr algn="ctr">
              <a:defRPr sz="3600" b="1">
                <a:solidFill>
                  <a:srgbClr val="001E96"/>
                </a:solidFill>
                <a:latin typeface="Calibri"/>
              </a:defRPr>
            </a:pPr>
            <a:r>
              <a:t>→</a:t>
            </a:r>
          </a:p>
        </p:txBody>
      </p:sp>
      <p:sp>
        <p:nvSpPr>
          <p:cNvPr id="10" name="TextBox 9"/>
          <p:cNvSpPr txBox="1"/>
          <p:nvPr/>
        </p:nvSpPr>
        <p:spPr>
          <a:xfrm>
            <a:off x="8138160" y="2926080"/>
            <a:ext cx="731520" cy="731520"/>
          </a:xfrm>
          <a:prstGeom prst="rect">
            <a:avLst/>
          </a:prstGeom>
          <a:noFill/>
        </p:spPr>
        <p:txBody>
          <a:bodyPr wrap="square">
            <a:spAutoFit/>
          </a:bodyPr>
          <a:lstStyle/>
          <a:p>
            <a:pPr algn="ctr">
              <a:defRPr sz="3600" b="1">
                <a:solidFill>
                  <a:srgbClr val="001E96"/>
                </a:solidFill>
                <a:latin typeface="Calibri"/>
              </a:defRPr>
            </a:pPr>
            <a:r>
              <a:t>→</a:t>
            </a:r>
          </a:p>
        </p:txBody>
      </p:sp>
      <p:sp>
        <p:nvSpPr>
          <p:cNvPr id="11" name="TextBox 10"/>
          <p:cNvSpPr txBox="1"/>
          <p:nvPr/>
        </p:nvSpPr>
        <p:spPr>
          <a:xfrm>
            <a:off x="731520" y="4572000"/>
            <a:ext cx="10058400" cy="1371600"/>
          </a:xfrm>
          <a:prstGeom prst="rect">
            <a:avLst/>
          </a:prstGeom>
          <a:noFill/>
        </p:spPr>
        <p:txBody>
          <a:bodyPr wrap="square">
            <a:spAutoFit/>
          </a:bodyPr>
          <a:lstStyle/>
          <a:p>
            <a:pPr algn="l">
              <a:defRPr sz="1700" b="0">
                <a:solidFill>
                  <a:srgbClr val="333333"/>
                </a:solidFill>
                <a:latin typeface="Calibri"/>
              </a:defRPr>
            </a:pPr>
            <a:r>
              <a:t>The heart of KYC compliance — every client document flows through this platform. My work spans the full pipeline: from how documents are linked to compliance questions, to how their validity is calculated, to the messaging infrastructure that connects it all.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731520"/>
          </a:xfrm>
          <a:prstGeom prst="rect">
            <a:avLst/>
          </a:prstGeom>
          <a:noFill/>
        </p:spPr>
        <p:txBody>
          <a:bodyPr wrap="square">
            <a:spAutoFit/>
          </a:bodyPr>
          <a:lstStyle/>
          <a:p>
            <a:pPr algn="l">
              <a:defRPr sz="3400" b="1">
                <a:solidFill>
                  <a:srgbClr val="001E96"/>
                </a:solidFill>
                <a:latin typeface="Calibri"/>
              </a:defRPr>
            </a:pPr>
            <a:r>
              <a:t>Intelligent Document &amp; Validity Platform</a:t>
            </a:r>
          </a:p>
        </p:txBody>
      </p:sp>
      <p:sp>
        <p:nvSpPr>
          <p:cNvPr id="3" name="TextBox 2"/>
          <p:cNvSpPr txBox="1"/>
          <p:nvPr/>
        </p:nvSpPr>
        <p:spPr>
          <a:xfrm>
            <a:off x="731520" y="914400"/>
            <a:ext cx="4572000" cy="365760"/>
          </a:xfrm>
          <a:prstGeom prst="rect">
            <a:avLst/>
          </a:prstGeom>
          <a:noFill/>
        </p:spPr>
        <p:txBody>
          <a:bodyPr wrap="square">
            <a:spAutoFit/>
          </a:bodyPr>
          <a:lstStyle/>
          <a:p>
            <a:pPr algn="l">
              <a:defRPr sz="1400" b="1">
                <a:solidFill>
                  <a:srgbClr val="426BB4"/>
                </a:solidFill>
                <a:latin typeface="Calibri"/>
              </a:defRPr>
            </a:pPr>
            <a:r>
              <a:t>TEAM &amp; PLATFORM IMPACT</a:t>
            </a:r>
          </a:p>
        </p:txBody>
      </p:sp>
      <p:sp>
        <p:nvSpPr>
          <p:cNvPr id="4" name="Rounded Rectangle 3"/>
          <p:cNvSpPr/>
          <p:nvPr/>
        </p:nvSpPr>
        <p:spPr>
          <a:xfrm>
            <a:off x="731520" y="1463040"/>
            <a:ext cx="5029200" cy="6400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BEFORE</a:t>
            </a:r>
          </a:p>
        </p:txBody>
      </p:sp>
      <p:sp>
        <p:nvSpPr>
          <p:cNvPr id="5" name="TextBox 4"/>
          <p:cNvSpPr txBox="1"/>
          <p:nvPr/>
        </p:nvSpPr>
        <p:spPr>
          <a:xfrm>
            <a:off x="914400" y="2286000"/>
            <a:ext cx="4572000" cy="1828800"/>
          </a:xfrm>
          <a:prstGeom prst="rect">
            <a:avLst/>
          </a:prstGeom>
          <a:noFill/>
        </p:spPr>
        <p:txBody>
          <a:bodyPr wrap="square">
            <a:spAutoFit/>
          </a:bodyPr>
          <a:lstStyle/>
          <a:p>
            <a:pPr>
              <a:spcBef>
                <a:spcPts val="800"/>
              </a:spcBef>
              <a:defRPr sz="1500" b="0">
                <a:solidFill>
                  <a:srgbClr val="333333"/>
                </a:solidFill>
                <a:latin typeface="Calibri"/>
              </a:defRPr>
            </a:pPr>
            <a:r>
              <a:t>Analysts verified every document by hand — passports, filings, proof of address</a:t>
            </a:r>
          </a:p>
          <a:p>
            <a:pPr>
              <a:spcBef>
                <a:spcPts val="800"/>
              </a:spcBef>
              <a:defRPr sz="1500" b="0">
                <a:solidFill>
                  <a:srgbClr val="333333"/>
                </a:solidFill>
                <a:latin typeface="Calibri"/>
              </a:defRPr>
            </a:pPr>
            <a:r>
              <a:t>Manual linking of documents to compliance questions</a:t>
            </a:r>
          </a:p>
          <a:p>
            <a:pPr>
              <a:spcBef>
                <a:spcPts val="800"/>
              </a:spcBef>
              <a:defRPr sz="1500" b="0">
                <a:solidFill>
                  <a:srgbClr val="333333"/>
                </a:solidFill>
                <a:latin typeface="Calibri"/>
              </a:defRPr>
            </a:pPr>
            <a:r>
              <a:t>Re-checking everything from scratch on every new document</a:t>
            </a:r>
          </a:p>
          <a:p>
            <a:pPr>
              <a:spcBef>
                <a:spcPts val="800"/>
              </a:spcBef>
              <a:defRPr sz="1500" b="0">
                <a:solidFill>
                  <a:srgbClr val="333333"/>
                </a:solidFill>
                <a:latin typeface="Calibri"/>
              </a:defRPr>
            </a:pPr>
            <a:r>
              <a:t>Slow, error-prone — bottleneck on every client onboarding</a:t>
            </a:r>
          </a:p>
        </p:txBody>
      </p:sp>
      <p:sp>
        <p:nvSpPr>
          <p:cNvPr id="6" name="Rounded Rectangle 5"/>
          <p:cNvSpPr/>
          <p:nvPr/>
        </p:nvSpPr>
        <p:spPr>
          <a:xfrm>
            <a:off x="6217920" y="1463040"/>
            <a:ext cx="502920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AFTER</a:t>
            </a:r>
          </a:p>
        </p:txBody>
      </p:sp>
      <p:sp>
        <p:nvSpPr>
          <p:cNvPr id="7" name="TextBox 6"/>
          <p:cNvSpPr txBox="1"/>
          <p:nvPr/>
        </p:nvSpPr>
        <p:spPr>
          <a:xfrm>
            <a:off x="6400800" y="2286000"/>
            <a:ext cx="4572000" cy="1828800"/>
          </a:xfrm>
          <a:prstGeom prst="rect">
            <a:avLst/>
          </a:prstGeom>
          <a:noFill/>
        </p:spPr>
        <p:txBody>
          <a:bodyPr wrap="square">
            <a:spAutoFit/>
          </a:bodyPr>
          <a:lstStyle/>
          <a:p>
            <a:pPr>
              <a:spcBef>
                <a:spcPts val="800"/>
              </a:spcBef>
              <a:defRPr sz="1500" b="0">
                <a:solidFill>
                  <a:srgbClr val="333333"/>
                </a:solidFill>
                <a:latin typeface="Calibri"/>
              </a:defRPr>
            </a:pPr>
            <a:r>
              <a:t>Auto-Association &amp; De-Association: no human in the loop</a:t>
            </a:r>
          </a:p>
          <a:p>
            <a:pPr>
              <a:spcBef>
                <a:spcPts val="800"/>
              </a:spcBef>
              <a:defRPr sz="1500" b="0">
                <a:solidFill>
                  <a:srgbClr val="333333"/>
                </a:solidFill>
                <a:latin typeface="Calibri"/>
              </a:defRPr>
            </a:pPr>
            <a:r>
              <a:t>Validity Framework: real-time checking, modular architecture</a:t>
            </a:r>
          </a:p>
          <a:p>
            <a:pPr>
              <a:spcBef>
                <a:spcPts val="800"/>
              </a:spcBef>
              <a:defRPr sz="1500" b="0">
                <a:solidFill>
                  <a:srgbClr val="333333"/>
                </a:solidFill>
                <a:latin typeface="Calibri"/>
              </a:defRPr>
            </a:pPr>
            <a:r>
              <a:t>Recently resolved Schufa &amp; Fulfillment UI production issues</a:t>
            </a:r>
          </a:p>
          <a:p>
            <a:pPr>
              <a:spcBef>
                <a:spcPts val="800"/>
              </a:spcBef>
              <a:defRPr sz="1500" b="0">
                <a:solidFill>
                  <a:srgbClr val="333333"/>
                </a:solidFill>
                <a:latin typeface="Calibri"/>
              </a:defRPr>
            </a:pPr>
            <a:r>
              <a:t>I designed, built, and continue to own this in production</a:t>
            </a:r>
          </a:p>
        </p:txBody>
      </p:sp>
      <p:sp>
        <p:nvSpPr>
          <p:cNvPr id="8" name="Rounded Rectangle 7"/>
          <p:cNvSpPr/>
          <p:nvPr/>
        </p:nvSpPr>
        <p:spPr>
          <a:xfrm>
            <a:off x="731520" y="4846320"/>
            <a:ext cx="3200400" cy="109728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€5M</a:t>
            </a:r>
          </a:p>
          <a:p>
            <a:pPr algn="ctr">
              <a:defRPr sz="1300" b="0">
                <a:solidFill>
                  <a:srgbClr val="CCCCFF"/>
                </a:solidFill>
              </a:defRPr>
            </a:pPr>
            <a:r>
              <a:t>Saved through automation</a:t>
            </a:r>
          </a:p>
        </p:txBody>
      </p:sp>
      <p:sp>
        <p:nvSpPr>
          <p:cNvPr id="9" name="Rounded Rectangle 8"/>
          <p:cNvSpPr/>
          <p:nvPr/>
        </p:nvSpPr>
        <p:spPr>
          <a:xfrm>
            <a:off x="4389120" y="4846320"/>
            <a:ext cx="3200400" cy="109728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40,000+</a:t>
            </a:r>
          </a:p>
          <a:p>
            <a:pPr algn="ctr">
              <a:defRPr sz="1300" b="0">
                <a:solidFill>
                  <a:srgbClr val="CCCCFF"/>
                </a:solidFill>
              </a:defRPr>
            </a:pPr>
            <a:r>
              <a:t>Document operations automated</a:t>
            </a:r>
          </a:p>
        </p:txBody>
      </p:sp>
      <p:sp>
        <p:nvSpPr>
          <p:cNvPr id="10" name="Rounded Rectangle 9"/>
          <p:cNvSpPr/>
          <p:nvPr/>
        </p:nvSpPr>
        <p:spPr>
          <a:xfrm>
            <a:off x="8046720" y="4846320"/>
            <a:ext cx="3200400" cy="109728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Still Own It</a:t>
            </a:r>
          </a:p>
          <a:p>
            <a:pPr algn="ctr">
              <a:defRPr sz="1300" b="0">
                <a:solidFill>
                  <a:srgbClr val="CCCCFF"/>
                </a:solidFill>
              </a:defRPr>
            </a:pPr>
            <a:r>
              <a:t>Actively resolving production issues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731520"/>
          </a:xfrm>
          <a:prstGeom prst="rect">
            <a:avLst/>
          </a:prstGeom>
          <a:noFill/>
        </p:spPr>
        <p:txBody>
          <a:bodyPr wrap="square">
            <a:spAutoFit/>
          </a:bodyPr>
          <a:lstStyle/>
          <a:p>
            <a:pPr algn="l">
              <a:defRPr sz="3400" b="1">
                <a:solidFill>
                  <a:srgbClr val="001E96"/>
                </a:solidFill>
                <a:latin typeface="Calibri"/>
              </a:defRPr>
            </a:pPr>
            <a:r>
              <a:t>Kafka Infrastructure Revolution</a:t>
            </a:r>
          </a:p>
        </p:txBody>
      </p:sp>
      <p:sp>
        <p:nvSpPr>
          <p:cNvPr id="3" name="TextBox 2"/>
          <p:cNvSpPr txBox="1"/>
          <p:nvPr/>
        </p:nvSpPr>
        <p:spPr>
          <a:xfrm>
            <a:off x="731520" y="914400"/>
            <a:ext cx="4572000" cy="365760"/>
          </a:xfrm>
          <a:prstGeom prst="rect">
            <a:avLst/>
          </a:prstGeom>
          <a:noFill/>
        </p:spPr>
        <p:txBody>
          <a:bodyPr wrap="square">
            <a:spAutoFit/>
          </a:bodyPr>
          <a:lstStyle/>
          <a:p>
            <a:pPr algn="l">
              <a:defRPr sz="1400" b="1">
                <a:solidFill>
                  <a:srgbClr val="426BB4"/>
                </a:solidFill>
                <a:latin typeface="Calibri"/>
              </a:defRPr>
            </a:pPr>
            <a:r>
              <a:t>BUSINESS UNIT IMPACT — ADOPTED ACROSS CLM</a:t>
            </a:r>
          </a:p>
        </p:txBody>
      </p:sp>
      <p:sp>
        <p:nvSpPr>
          <p:cNvPr id="4" name="Rounded Rectangle 3"/>
          <p:cNvSpPr/>
          <p:nvPr/>
        </p:nvSpPr>
        <p:spPr>
          <a:xfrm>
            <a:off x="731520" y="1463040"/>
            <a:ext cx="5029200" cy="6400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BEFORE</a:t>
            </a:r>
          </a:p>
        </p:txBody>
      </p:sp>
      <p:sp>
        <p:nvSpPr>
          <p:cNvPr id="5" name="TextBox 4"/>
          <p:cNvSpPr txBox="1"/>
          <p:nvPr/>
        </p:nvSpPr>
        <p:spPr>
          <a:xfrm>
            <a:off x="914400" y="2286000"/>
            <a:ext cx="4572000" cy="1828800"/>
          </a:xfrm>
          <a:prstGeom prst="rect">
            <a:avLst/>
          </a:prstGeom>
          <a:noFill/>
        </p:spPr>
        <p:txBody>
          <a:bodyPr wrap="square">
            <a:spAutoFit/>
          </a:bodyPr>
          <a:lstStyle/>
          <a:p>
            <a:pPr>
              <a:spcBef>
                <a:spcPts val="800"/>
              </a:spcBef>
              <a:defRPr sz="1500" b="0">
                <a:solidFill>
                  <a:srgbClr val="333333"/>
                </a:solidFill>
                <a:latin typeface="Calibri"/>
              </a:defRPr>
            </a:pPr>
            <a:r>
              <a:t>Could not handle message bursts — 30-60 min delays</a:t>
            </a:r>
          </a:p>
          <a:p>
            <a:pPr>
              <a:spcBef>
                <a:spcPts val="800"/>
              </a:spcBef>
              <a:defRPr sz="1500" b="0">
                <a:solidFill>
                  <a:srgbClr val="333333"/>
                </a:solidFill>
                <a:latin typeface="Calibri"/>
              </a:defRPr>
            </a:pPr>
            <a:r>
              <a:t>Messages lost permanently — no retry mechanism</a:t>
            </a:r>
          </a:p>
          <a:p>
            <a:pPr>
              <a:spcBef>
                <a:spcPts val="800"/>
              </a:spcBef>
              <a:defRPr sz="1500" b="0">
                <a:solidFill>
                  <a:srgbClr val="333333"/>
                </a:solidFill>
                <a:latin typeface="Calibri"/>
              </a:defRPr>
            </a:pPr>
            <a:r>
              <a:t>Zero traceability — daily user issues, regular incidents</a:t>
            </a:r>
          </a:p>
          <a:p>
            <a:pPr>
              <a:spcBef>
                <a:spcPts val="800"/>
              </a:spcBef>
              <a:defRPr sz="1500" b="0">
                <a:solidFill>
                  <a:srgbClr val="333333"/>
                </a:solidFill>
                <a:latin typeface="Calibri"/>
              </a:defRPr>
            </a:pPr>
            <a:endParaRPr/>
          </a:p>
        </p:txBody>
      </p:sp>
      <p:sp>
        <p:nvSpPr>
          <p:cNvPr id="6" name="Rounded Rectangle 5"/>
          <p:cNvSpPr/>
          <p:nvPr/>
        </p:nvSpPr>
        <p:spPr>
          <a:xfrm>
            <a:off x="6217920" y="1463040"/>
            <a:ext cx="5029200" cy="6400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AFTER</a:t>
            </a:r>
          </a:p>
        </p:txBody>
      </p:sp>
      <p:sp>
        <p:nvSpPr>
          <p:cNvPr id="7" name="TextBox 6"/>
          <p:cNvSpPr txBox="1"/>
          <p:nvPr/>
        </p:nvSpPr>
        <p:spPr>
          <a:xfrm>
            <a:off x="6400800" y="2286000"/>
            <a:ext cx="4572000" cy="1828800"/>
          </a:xfrm>
          <a:prstGeom prst="rect">
            <a:avLst/>
          </a:prstGeom>
          <a:noFill/>
        </p:spPr>
        <p:txBody>
          <a:bodyPr wrap="square">
            <a:spAutoFit/>
          </a:bodyPr>
          <a:lstStyle/>
          <a:p>
            <a:pPr>
              <a:spcBef>
                <a:spcPts val="800"/>
              </a:spcBef>
              <a:defRPr sz="1500" b="0">
                <a:solidFill>
                  <a:srgbClr val="333333"/>
                </a:solidFill>
                <a:latin typeface="Calibri"/>
              </a:defRPr>
            </a:pPr>
            <a:r>
              <a:t>Processing engine built for resilience &amp; scale — 500K msgs/day</a:t>
            </a:r>
          </a:p>
          <a:p>
            <a:pPr>
              <a:spcBef>
                <a:spcPts val="800"/>
              </a:spcBef>
              <a:defRPr sz="1500" b="0">
                <a:solidFill>
                  <a:srgbClr val="333333"/>
                </a:solidFill>
                <a:latin typeface="Calibri"/>
              </a:defRPr>
            </a:pPr>
            <a:r>
              <a:t>Phoenix Retry Library: automatic recovery after outages</a:t>
            </a:r>
          </a:p>
          <a:p>
            <a:pPr>
              <a:spcBef>
                <a:spcPts val="800"/>
              </a:spcBef>
              <a:defRPr sz="1500" b="0">
                <a:solidFill>
                  <a:srgbClr val="333333"/>
                </a:solidFill>
                <a:latin typeface="Calibri"/>
              </a:defRPr>
            </a:pPr>
            <a:r>
              <a:t>End-to-end message traceability: ingestion to completion</a:t>
            </a:r>
          </a:p>
          <a:p>
            <a:pPr>
              <a:spcBef>
                <a:spcPts val="800"/>
              </a:spcBef>
              <a:defRPr sz="1500" b="0">
                <a:solidFill>
                  <a:srgbClr val="333333"/>
                </a:solidFill>
                <a:latin typeface="Calibri"/>
              </a:defRPr>
            </a:pPr>
            <a:r>
              <a:t>Technical authority — every change goes through me</a:t>
            </a:r>
          </a:p>
        </p:txBody>
      </p:sp>
      <p:sp>
        <p:nvSpPr>
          <p:cNvPr id="8" name="Rounded Rectangle 7"/>
          <p:cNvSpPr/>
          <p:nvPr/>
        </p:nvSpPr>
        <p:spPr>
          <a:xfrm>
            <a:off x="731520" y="4846320"/>
            <a:ext cx="3200400" cy="109728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30-60 min → Seconds</a:t>
            </a:r>
          </a:p>
          <a:p>
            <a:pPr algn="ctr">
              <a:defRPr sz="1300" b="0">
                <a:solidFill>
                  <a:srgbClr val="CCCCFF"/>
                </a:solidFill>
              </a:defRPr>
            </a:pPr>
            <a:r>
              <a:t>Processing time reduction</a:t>
            </a:r>
          </a:p>
        </p:txBody>
      </p:sp>
      <p:sp>
        <p:nvSpPr>
          <p:cNvPr id="9" name="Rounded Rectangle 8"/>
          <p:cNvSpPr/>
          <p:nvPr/>
        </p:nvSpPr>
        <p:spPr>
          <a:xfrm>
            <a:off x="4389120" y="4846320"/>
            <a:ext cx="3200400" cy="109728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500,000 msgs/day</a:t>
            </a:r>
          </a:p>
          <a:p>
            <a:pPr algn="ctr">
              <a:defRPr sz="1300" b="0">
                <a:solidFill>
                  <a:srgbClr val="CCCCFF"/>
                </a:solidFill>
              </a:defRPr>
            </a:pPr>
            <a:r>
              <a:t>Daily message throughput</a:t>
            </a:r>
          </a:p>
        </p:txBody>
      </p:sp>
      <p:sp>
        <p:nvSpPr>
          <p:cNvPr id="10" name="Rounded Rectangle 9"/>
          <p:cNvSpPr/>
          <p:nvPr/>
        </p:nvSpPr>
        <p:spPr>
          <a:xfrm>
            <a:off x="8046720" y="4846320"/>
            <a:ext cx="3200400" cy="109728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Multiple Teams</a:t>
            </a:r>
          </a:p>
          <a:p>
            <a:pPr algn="ctr">
              <a:defRPr sz="1300" b="0">
                <a:solidFill>
                  <a:srgbClr val="CCCCFF"/>
                </a:solidFill>
              </a:defRPr>
            </a:pPr>
            <a:r>
              <a:t>Adopted across business unit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731520"/>
          </a:xfrm>
          <a:prstGeom prst="rect">
            <a:avLst/>
          </a:prstGeom>
          <a:noFill/>
        </p:spPr>
        <p:txBody>
          <a:bodyPr wrap="square">
            <a:spAutoFit/>
          </a:bodyPr>
          <a:lstStyle/>
          <a:p>
            <a:pPr algn="l">
              <a:defRPr sz="3400" b="1">
                <a:solidFill>
                  <a:srgbClr val="001E96"/>
                </a:solidFill>
                <a:latin typeface="Calibri"/>
              </a:defRPr>
            </a:pPr>
            <a:r>
              <a:t>AI Agentic Platform — Pioneering AI Adoption</a:t>
            </a:r>
          </a:p>
        </p:txBody>
      </p:sp>
      <p:sp>
        <p:nvSpPr>
          <p:cNvPr id="3" name="TextBox 2"/>
          <p:cNvSpPr txBox="1"/>
          <p:nvPr/>
        </p:nvSpPr>
        <p:spPr>
          <a:xfrm>
            <a:off x="731520" y="914400"/>
            <a:ext cx="7315200" cy="365760"/>
          </a:xfrm>
          <a:prstGeom prst="rect">
            <a:avLst/>
          </a:prstGeom>
          <a:noFill/>
        </p:spPr>
        <p:txBody>
          <a:bodyPr wrap="square">
            <a:spAutoFit/>
          </a:bodyPr>
          <a:lstStyle/>
          <a:p>
            <a:pPr algn="l">
              <a:defRPr sz="1400" b="1">
                <a:solidFill>
                  <a:srgbClr val="426BB4"/>
                </a:solidFill>
                <a:latin typeface="Calibri"/>
              </a:defRPr>
            </a:pPr>
            <a:r>
              <a:t>INNOVATION &amp; FUTURE — SINGLE-HANDEDLY DESIGNED &amp; DELIVERED</a:t>
            </a:r>
          </a:p>
        </p:txBody>
      </p:sp>
      <p:sp>
        <p:nvSpPr>
          <p:cNvPr id="4" name="Rounded Rectangle 3"/>
          <p:cNvSpPr/>
          <p:nvPr/>
        </p:nvSpPr>
        <p:spPr>
          <a:xfrm>
            <a:off x="736600" y="1554480"/>
            <a:ext cx="3200400" cy="228600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645920"/>
            <a:ext cx="3017520" cy="457200"/>
          </a:xfrm>
          <a:prstGeom prst="rect">
            <a:avLst/>
          </a:prstGeom>
          <a:noFill/>
        </p:spPr>
        <p:txBody>
          <a:bodyPr wrap="square">
            <a:spAutoFit/>
          </a:bodyPr>
          <a:lstStyle/>
          <a:p>
            <a:pPr algn="ctr">
              <a:defRPr sz="2000" b="1">
                <a:solidFill>
                  <a:srgbClr val="FFFFFF"/>
                </a:solidFill>
                <a:latin typeface="Calibri"/>
              </a:defRPr>
            </a:pPr>
            <a:r>
              <a:t>Nexus AI Framework</a:t>
            </a:r>
          </a:p>
        </p:txBody>
      </p:sp>
      <p:sp>
        <p:nvSpPr>
          <p:cNvPr id="6" name="TextBox 5"/>
          <p:cNvSpPr txBox="1"/>
          <p:nvPr/>
        </p:nvSpPr>
        <p:spPr>
          <a:xfrm>
            <a:off x="914400" y="2194560"/>
            <a:ext cx="2834640" cy="1371600"/>
          </a:xfrm>
          <a:prstGeom prst="rect">
            <a:avLst/>
          </a:prstGeom>
          <a:noFill/>
        </p:spPr>
        <p:txBody>
          <a:bodyPr wrap="square">
            <a:spAutoFit/>
          </a:bodyPr>
          <a:lstStyle/>
          <a:p>
            <a:pPr>
              <a:spcBef>
                <a:spcPts val="800"/>
              </a:spcBef>
              <a:defRPr sz="1300" b="0">
                <a:solidFill>
                  <a:srgbClr val="FFFFFF"/>
                </a:solidFill>
                <a:latin typeface="Calibri"/>
              </a:defRPr>
            </a:pPr>
            <a:r>
              <a:rPr dirty="0"/>
              <a:t>Steered team away from Python — chose Java to fit our stack</a:t>
            </a:r>
          </a:p>
          <a:p>
            <a:pPr>
              <a:spcBef>
                <a:spcPts val="800"/>
              </a:spcBef>
              <a:defRPr sz="1300" b="0">
                <a:solidFill>
                  <a:srgbClr val="FFFFFF"/>
                </a:solidFill>
                <a:latin typeface="Calibri"/>
              </a:defRPr>
            </a:pPr>
            <a:r>
              <a:rPr dirty="0"/>
              <a:t>Convinced technical management on approach</a:t>
            </a:r>
          </a:p>
          <a:p>
            <a:pPr>
              <a:spcBef>
                <a:spcPts val="800"/>
              </a:spcBef>
              <a:defRPr sz="1300" b="0">
                <a:solidFill>
                  <a:srgbClr val="FFFFFF"/>
                </a:solidFill>
                <a:latin typeface="Calibri"/>
              </a:defRPr>
            </a:pPr>
            <a:r>
              <a:rPr dirty="0"/>
              <a:t>Any team builds AI agents in 1 hour</a:t>
            </a:r>
          </a:p>
        </p:txBody>
      </p:sp>
      <p:sp>
        <p:nvSpPr>
          <p:cNvPr id="7" name="TextBox 6"/>
          <p:cNvSpPr txBox="1"/>
          <p:nvPr/>
        </p:nvSpPr>
        <p:spPr>
          <a:xfrm>
            <a:off x="3935729" y="2286000"/>
            <a:ext cx="548640" cy="548640"/>
          </a:xfrm>
          <a:prstGeom prst="rect">
            <a:avLst/>
          </a:prstGeom>
          <a:noFill/>
        </p:spPr>
        <p:txBody>
          <a:bodyPr wrap="square">
            <a:spAutoFit/>
          </a:bodyPr>
          <a:lstStyle/>
          <a:p>
            <a:pPr algn="ctr">
              <a:defRPr sz="3600" b="1">
                <a:solidFill>
                  <a:srgbClr val="001E96"/>
                </a:solidFill>
                <a:latin typeface="Calibri"/>
              </a:defRPr>
            </a:pPr>
            <a:r>
              <a:t>→</a:t>
            </a:r>
          </a:p>
        </p:txBody>
      </p:sp>
      <p:sp>
        <p:nvSpPr>
          <p:cNvPr id="8" name="Rounded Rectangle 7"/>
          <p:cNvSpPr/>
          <p:nvPr/>
        </p:nvSpPr>
        <p:spPr>
          <a:xfrm>
            <a:off x="4483100" y="1554480"/>
            <a:ext cx="3200400" cy="2286000"/>
          </a:xfrm>
          <a:prstGeom prst="roundRect">
            <a:avLst/>
          </a:prstGeom>
          <a:solidFill>
            <a:srgbClr val="426B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45920"/>
            <a:ext cx="3017520" cy="457200"/>
          </a:xfrm>
          <a:prstGeom prst="rect">
            <a:avLst/>
          </a:prstGeom>
          <a:noFill/>
        </p:spPr>
        <p:txBody>
          <a:bodyPr wrap="square">
            <a:spAutoFit/>
          </a:bodyPr>
          <a:lstStyle/>
          <a:p>
            <a:pPr algn="ctr">
              <a:defRPr sz="2000" b="1">
                <a:solidFill>
                  <a:srgbClr val="FFFFFF"/>
                </a:solidFill>
                <a:latin typeface="Calibri"/>
              </a:defRPr>
            </a:pPr>
            <a:r>
              <a:t>PromptLint</a:t>
            </a:r>
          </a:p>
        </p:txBody>
      </p:sp>
      <p:sp>
        <p:nvSpPr>
          <p:cNvPr id="10" name="TextBox 9"/>
          <p:cNvSpPr txBox="1"/>
          <p:nvPr/>
        </p:nvSpPr>
        <p:spPr>
          <a:xfrm>
            <a:off x="4660900" y="2194560"/>
            <a:ext cx="2834640" cy="1371600"/>
          </a:xfrm>
          <a:prstGeom prst="rect">
            <a:avLst/>
          </a:prstGeom>
          <a:noFill/>
        </p:spPr>
        <p:txBody>
          <a:bodyPr wrap="square">
            <a:spAutoFit/>
          </a:bodyPr>
          <a:lstStyle/>
          <a:p>
            <a:pPr>
              <a:spcBef>
                <a:spcPts val="800"/>
              </a:spcBef>
              <a:defRPr sz="1300" b="0">
                <a:solidFill>
                  <a:srgbClr val="FFFFFF"/>
                </a:solidFill>
                <a:latin typeface="Calibri"/>
              </a:defRPr>
            </a:pPr>
            <a:r>
              <a:t>Quality gate for AI instructions</a:t>
            </a:r>
          </a:p>
          <a:p>
            <a:pPr>
              <a:spcBef>
                <a:spcPts val="800"/>
              </a:spcBef>
              <a:defRPr sz="1300" b="0">
                <a:solidFill>
                  <a:srgbClr val="FFFFFF"/>
                </a:solidFill>
                <a:latin typeface="Calibri"/>
              </a:defRPr>
            </a:pPr>
            <a:r>
              <a:t>Catches bad prompts before they reach LLM</a:t>
            </a:r>
          </a:p>
          <a:p>
            <a:pPr>
              <a:spcBef>
                <a:spcPts val="800"/>
              </a:spcBef>
              <a:defRPr sz="1300" b="0">
                <a:solidFill>
                  <a:srgbClr val="FFFFFF"/>
                </a:solidFill>
                <a:latin typeface="Calibri"/>
              </a:defRPr>
            </a:pPr>
            <a:r>
              <a:t>Deterministic — no AI calls needed</a:t>
            </a:r>
          </a:p>
        </p:txBody>
      </p:sp>
      <p:sp>
        <p:nvSpPr>
          <p:cNvPr id="11" name="TextBox 10"/>
          <p:cNvSpPr txBox="1"/>
          <p:nvPr/>
        </p:nvSpPr>
        <p:spPr>
          <a:xfrm>
            <a:off x="7682230" y="2286000"/>
            <a:ext cx="548640" cy="548640"/>
          </a:xfrm>
          <a:prstGeom prst="rect">
            <a:avLst/>
          </a:prstGeom>
          <a:noFill/>
        </p:spPr>
        <p:txBody>
          <a:bodyPr wrap="square">
            <a:spAutoFit/>
          </a:bodyPr>
          <a:lstStyle/>
          <a:p>
            <a:pPr algn="ctr">
              <a:defRPr sz="3600" b="1">
                <a:solidFill>
                  <a:srgbClr val="001E96"/>
                </a:solidFill>
                <a:latin typeface="Calibri"/>
              </a:defRPr>
            </a:pPr>
            <a:r>
              <a:t>→</a:t>
            </a:r>
          </a:p>
        </p:txBody>
      </p:sp>
      <p:sp>
        <p:nvSpPr>
          <p:cNvPr id="12" name="Rounded Rectangle 11"/>
          <p:cNvSpPr/>
          <p:nvPr/>
        </p:nvSpPr>
        <p:spPr>
          <a:xfrm>
            <a:off x="8229600" y="1554480"/>
            <a:ext cx="3200400" cy="22860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31200" y="1645920"/>
            <a:ext cx="3017520" cy="457200"/>
          </a:xfrm>
          <a:prstGeom prst="rect">
            <a:avLst/>
          </a:prstGeom>
          <a:noFill/>
        </p:spPr>
        <p:txBody>
          <a:bodyPr wrap="square">
            <a:spAutoFit/>
          </a:bodyPr>
          <a:lstStyle/>
          <a:p>
            <a:pPr algn="ctr">
              <a:defRPr sz="2000" b="1">
                <a:solidFill>
                  <a:srgbClr val="FFFFFF"/>
                </a:solidFill>
                <a:latin typeface="Calibri"/>
              </a:defRPr>
            </a:pPr>
            <a:r>
              <a:t>CSM Workflow</a:t>
            </a:r>
          </a:p>
        </p:txBody>
      </p:sp>
      <p:sp>
        <p:nvSpPr>
          <p:cNvPr id="14" name="TextBox 13"/>
          <p:cNvSpPr txBox="1"/>
          <p:nvPr/>
        </p:nvSpPr>
        <p:spPr>
          <a:xfrm>
            <a:off x="8420100" y="2194560"/>
            <a:ext cx="2834640" cy="1371600"/>
          </a:xfrm>
          <a:prstGeom prst="rect">
            <a:avLst/>
          </a:prstGeom>
          <a:noFill/>
        </p:spPr>
        <p:txBody>
          <a:bodyPr wrap="square">
            <a:spAutoFit/>
          </a:bodyPr>
          <a:lstStyle/>
          <a:p>
            <a:pPr>
              <a:spcBef>
                <a:spcPts val="800"/>
              </a:spcBef>
              <a:defRPr sz="1300" b="0">
                <a:solidFill>
                  <a:srgbClr val="FFFFFF"/>
                </a:solidFill>
                <a:latin typeface="Calibri"/>
              </a:defRPr>
            </a:pPr>
            <a:r>
              <a:t>First production AI workflow</a:t>
            </a:r>
          </a:p>
          <a:p>
            <a:pPr>
              <a:spcBef>
                <a:spcPts val="800"/>
              </a:spcBef>
              <a:defRPr sz="1300" b="0">
                <a:solidFill>
                  <a:srgbClr val="FFFFFF"/>
                </a:solidFill>
                <a:latin typeface="Calibri"/>
              </a:defRPr>
            </a:pPr>
            <a:r>
              <a:t>Auto-identifies Client Senior Managers</a:t>
            </a:r>
          </a:p>
          <a:p>
            <a:pPr>
              <a:spcBef>
                <a:spcPts val="800"/>
              </a:spcBef>
              <a:defRPr sz="1300" b="0">
                <a:solidFill>
                  <a:srgbClr val="FFFFFF"/>
                </a:solidFill>
                <a:latin typeface="Calibri"/>
              </a:defRPr>
            </a:pPr>
            <a:r>
              <a:t>Replaces manual document reading</a:t>
            </a:r>
          </a:p>
        </p:txBody>
      </p:sp>
      <p:sp>
        <p:nvSpPr>
          <p:cNvPr id="15" name="Rounded Rectangle 14"/>
          <p:cNvSpPr/>
          <p:nvPr/>
        </p:nvSpPr>
        <p:spPr>
          <a:xfrm>
            <a:off x="736600" y="4597400"/>
            <a:ext cx="3200400" cy="139700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18-24 hrs → 1 hr</a:t>
            </a:r>
          </a:p>
          <a:p>
            <a:pPr algn="ctr">
              <a:defRPr sz="1300" b="0">
                <a:solidFill>
                  <a:srgbClr val="CCCCFF"/>
                </a:solidFill>
              </a:defRPr>
            </a:pPr>
            <a:r>
              <a:t>Agent creation time (95% reduction)</a:t>
            </a:r>
          </a:p>
        </p:txBody>
      </p:sp>
      <p:sp>
        <p:nvSpPr>
          <p:cNvPr id="16" name="Rounded Rectangle 15"/>
          <p:cNvSpPr/>
          <p:nvPr/>
        </p:nvSpPr>
        <p:spPr>
          <a:xfrm>
            <a:off x="4495800" y="4597400"/>
            <a:ext cx="3200400" cy="139700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Beyond CLM</a:t>
            </a:r>
          </a:p>
          <a:p>
            <a:pPr algn="ctr">
              <a:defRPr sz="1300" b="0">
                <a:solidFill>
                  <a:srgbClr val="CCCCFF"/>
                </a:solidFill>
              </a:defRPr>
            </a:pPr>
            <a:r>
              <a:t>CSIO evaluating as DB-wide standard</a:t>
            </a:r>
          </a:p>
        </p:txBody>
      </p:sp>
      <p:sp>
        <p:nvSpPr>
          <p:cNvPr id="17" name="Rounded Rectangle 16"/>
          <p:cNvSpPr/>
          <p:nvPr/>
        </p:nvSpPr>
        <p:spPr>
          <a:xfrm>
            <a:off x="8255000" y="4597400"/>
            <a:ext cx="3200400" cy="139700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a:p>
            <a:pPr algn="ctr">
              <a:defRPr sz="2800" b="1">
                <a:solidFill>
                  <a:srgbClr val="FFFFFF"/>
                </a:solidFill>
              </a:defRPr>
            </a:pPr>
            <a:r>
              <a:t>Single-handedly built</a:t>
            </a:r>
          </a:p>
          <a:p>
            <a:pPr algn="ctr">
              <a:defRPr sz="1300" b="0">
                <a:solidFill>
                  <a:srgbClr val="CCCCFF"/>
                </a:solidFill>
              </a:defRPr>
            </a:pPr>
            <a:r>
              <a:t>Research · POC · Design · Delivery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9144000" cy="731520"/>
          </a:xfrm>
          <a:prstGeom prst="rect">
            <a:avLst/>
          </a:prstGeom>
          <a:noFill/>
        </p:spPr>
        <p:txBody>
          <a:bodyPr wrap="square">
            <a:spAutoFit/>
          </a:bodyPr>
          <a:lstStyle/>
          <a:p>
            <a:pPr algn="l">
              <a:defRPr sz="3400" b="1">
                <a:solidFill>
                  <a:srgbClr val="001E96"/>
                </a:solidFill>
                <a:latin typeface="Calibri"/>
              </a:defRPr>
            </a:pPr>
            <a:r>
              <a:t>Beyond My Team</a:t>
            </a:r>
          </a:p>
        </p:txBody>
      </p:sp>
      <p:sp>
        <p:nvSpPr>
          <p:cNvPr id="3" name="Rounded Rectangle 2"/>
          <p:cNvSpPr/>
          <p:nvPr/>
        </p:nvSpPr>
        <p:spPr>
          <a:xfrm>
            <a:off x="731520" y="3810000"/>
            <a:ext cx="5029200" cy="73152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Firmwide Contributions</a:t>
            </a:r>
          </a:p>
        </p:txBody>
      </p:sp>
      <p:sp>
        <p:nvSpPr>
          <p:cNvPr id="4" name="TextBox 3"/>
          <p:cNvSpPr txBox="1"/>
          <p:nvPr/>
        </p:nvSpPr>
        <p:spPr>
          <a:xfrm>
            <a:off x="914400" y="4597400"/>
            <a:ext cx="4572000" cy="1524000"/>
          </a:xfrm>
          <a:prstGeom prst="rect">
            <a:avLst/>
          </a:prstGeom>
          <a:noFill/>
        </p:spPr>
        <p:txBody>
          <a:bodyPr wrap="square">
            <a:spAutoFit/>
          </a:bodyPr>
          <a:lstStyle/>
          <a:p>
            <a:pPr>
              <a:spcBef>
                <a:spcPts val="800"/>
              </a:spcBef>
              <a:defRPr sz="1700" b="0">
                <a:solidFill>
                  <a:srgbClr val="333333"/>
                </a:solidFill>
                <a:latin typeface="Calibri"/>
              </a:defRPr>
            </a:pPr>
            <a:r>
              <a:rPr dirty="0"/>
              <a:t>2024: Deutsche Bank Hackathon — Participant</a:t>
            </a:r>
          </a:p>
          <a:p>
            <a:pPr>
              <a:spcBef>
                <a:spcPts val="800"/>
              </a:spcBef>
              <a:defRPr sz="1700" b="0">
                <a:solidFill>
                  <a:srgbClr val="333333"/>
                </a:solidFill>
                <a:latin typeface="Calibri"/>
              </a:defRPr>
            </a:pPr>
            <a:r>
              <a:rPr dirty="0"/>
              <a:t>2025: Deutsche Bank Hackathon — Team Lead</a:t>
            </a:r>
          </a:p>
          <a:p>
            <a:pPr>
              <a:spcBef>
                <a:spcPts val="800"/>
              </a:spcBef>
              <a:defRPr sz="1700" b="0">
                <a:solidFill>
                  <a:srgbClr val="333333"/>
                </a:solidFill>
                <a:latin typeface="Calibri"/>
              </a:defRPr>
            </a:pPr>
            <a:r>
              <a:rPr dirty="0"/>
              <a:t>2026: Environmental Sustainability Initiative</a:t>
            </a:r>
          </a:p>
        </p:txBody>
      </p:sp>
      <p:sp>
        <p:nvSpPr>
          <p:cNvPr id="5" name="Rounded Rectangle 4"/>
          <p:cNvSpPr/>
          <p:nvPr/>
        </p:nvSpPr>
        <p:spPr>
          <a:xfrm>
            <a:off x="6217920" y="1371600"/>
            <a:ext cx="5029200" cy="73152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Division-Wide Impact</a:t>
            </a:r>
          </a:p>
        </p:txBody>
      </p:sp>
      <p:sp>
        <p:nvSpPr>
          <p:cNvPr id="6" name="TextBox 5"/>
          <p:cNvSpPr txBox="1"/>
          <p:nvPr/>
        </p:nvSpPr>
        <p:spPr>
          <a:xfrm>
            <a:off x="6400800" y="2184400"/>
            <a:ext cx="4572000" cy="3810000"/>
          </a:xfrm>
          <a:prstGeom prst="rect">
            <a:avLst/>
          </a:prstGeom>
          <a:noFill/>
        </p:spPr>
        <p:txBody>
          <a:bodyPr wrap="square">
            <a:spAutoFit/>
          </a:bodyPr>
          <a:lstStyle/>
          <a:p>
            <a:pPr>
              <a:spcBef>
                <a:spcPts val="800"/>
              </a:spcBef>
              <a:defRPr sz="1700" b="0">
                <a:solidFill>
                  <a:srgbClr val="333333"/>
                </a:solidFill>
                <a:latin typeface="Calibri"/>
              </a:defRPr>
            </a:pPr>
            <a:r>
              <a:t>Kafka Phoenix Retry Library → adopted across CLM</a:t>
            </a:r>
          </a:p>
          <a:p>
            <a:pPr>
              <a:spcBef>
                <a:spcPts val="800"/>
              </a:spcBef>
              <a:defRPr sz="1700" b="0">
                <a:solidFill>
                  <a:srgbClr val="333333"/>
                </a:solidFill>
                <a:latin typeface="Calibri"/>
              </a:defRPr>
            </a:pPr>
            <a:r>
              <a:t>Nexus AI Framework → adopted across CLM</a:t>
            </a:r>
          </a:p>
          <a:p>
            <a:pPr>
              <a:spcBef>
                <a:spcPts val="800"/>
              </a:spcBef>
              <a:defRPr sz="1700" b="0">
                <a:solidFill>
                  <a:srgbClr val="333333"/>
                </a:solidFill>
                <a:latin typeface="Calibri"/>
              </a:defRPr>
            </a:pPr>
            <a:r>
              <a:t>Coding Standards: built shared build configs enforcing code quality — now the standard across every microservice</a:t>
            </a:r>
          </a:p>
          <a:p>
            <a:pPr>
              <a:spcBef>
                <a:spcPts val="800"/>
              </a:spcBef>
              <a:defRPr sz="1700" b="0">
                <a:solidFill>
                  <a:srgbClr val="333333"/>
                </a:solidFill>
                <a:latin typeface="Calibri"/>
              </a:defRPr>
            </a:pPr>
            <a:r>
              <a:t>Component Guardian: Kafka infrastructure for the business unit</a:t>
            </a:r>
          </a:p>
        </p:txBody>
      </p:sp>
      <p:sp>
        <p:nvSpPr>
          <p:cNvPr id="7" name="Rounded Rectangle 2"/>
          <p:cNvSpPr/>
          <p:nvPr/>
        </p:nvSpPr>
        <p:spPr>
          <a:xfrm>
            <a:off x="731520" y="1371600"/>
            <a:ext cx="5029200" cy="731520"/>
          </a:xfrm>
          <a:prstGeom prst="roundRect">
            <a:avLst/>
          </a:prstGeom>
          <a:solidFill>
            <a:srgbClr val="001E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600"/>
              </a:spcBef>
              <a:defRPr sz="2000" b="1">
                <a:solidFill>
                  <a:srgbClr val="FFFFFF"/>
                </a:solidFill>
              </a:defRPr>
            </a:pPr>
            <a:r>
              <a:t>Industry Contribution</a:t>
            </a:r>
          </a:p>
        </p:txBody>
      </p:sp>
      <p:sp>
        <p:nvSpPr>
          <p:cNvPr id="8" name="TextBox 3"/>
          <p:cNvSpPr txBox="1"/>
          <p:nvPr/>
        </p:nvSpPr>
        <p:spPr>
          <a:xfrm>
            <a:off x="914400" y="2184400"/>
            <a:ext cx="4572000" cy="1524000"/>
          </a:xfrm>
          <a:prstGeom prst="rect">
            <a:avLst/>
          </a:prstGeom>
          <a:noFill/>
        </p:spPr>
        <p:txBody>
          <a:bodyPr wrap="square">
            <a:spAutoFit/>
          </a:bodyPr>
          <a:lstStyle/>
          <a:p>
            <a:pPr>
              <a:spcBef>
                <a:spcPts val="800"/>
              </a:spcBef>
              <a:defRPr sz="1700" b="0">
                <a:solidFill>
                  <a:srgbClr val="333333"/>
                </a:solidFill>
                <a:latin typeface="Calibri"/>
              </a:defRPr>
            </a:pPr>
            <a:r>
              <a:rPr dirty="0"/>
              <a:t>Contributed to LangChain4j — the open-source Java AI framework</a:t>
            </a:r>
          </a:p>
          <a:p>
            <a:pPr>
              <a:spcBef>
                <a:spcPts val="800"/>
              </a:spcBef>
              <a:defRPr sz="1700" b="0">
                <a:solidFill>
                  <a:srgbClr val="333333"/>
                </a:solidFill>
                <a:latin typeface="Calibri"/>
              </a:defRPr>
            </a:pPr>
            <a:r>
              <a:rPr dirty="0"/>
              <a:t>Added new Google AI integration module</a:t>
            </a:r>
          </a:p>
          <a:p>
            <a:pPr>
              <a:spcBef>
                <a:spcPts val="800"/>
              </a:spcBef>
              <a:defRPr sz="1700" b="0">
                <a:solidFill>
                  <a:srgbClr val="333333"/>
                </a:solidFill>
                <a:latin typeface="Calibri"/>
              </a:defRPr>
            </a:pPr>
            <a:r>
              <a:rPr dirty="0"/>
              <a:t>Giving back to the community that powers our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E96"/>
        </a:solidFill>
        <a:effectLst/>
      </p:bgPr>
    </p:bg>
    <p:spTree>
      <p:nvGrpSpPr>
        <p:cNvPr id="1" name=""/>
        <p:cNvGrpSpPr/>
        <p:nvPr/>
      </p:nvGrpSpPr>
      <p:grpSpPr>
        <a:xfrm>
          <a:off x="0" y="0"/>
          <a:ext cx="0" cy="0"/>
          <a:chOff x="0" y="0"/>
          <a:chExt cx="0" cy="0"/>
        </a:xfrm>
      </p:grpSpPr>
      <p:sp>
        <p:nvSpPr>
          <p:cNvPr id="20" name="Accent Line"/>
          <p:cNvSpPr/>
          <p:nvPr/>
        </p:nvSpPr>
        <p:spPr>
          <a:xfrm>
            <a:off x="4826000" y="1333500"/>
            <a:ext cx="2540000" cy="25400"/>
          </a:xfrm>
          <a:prstGeom prst="rect">
            <a:avLst/>
          </a:prstGeom>
          <a:solidFill>
            <a:srgbClr val="FFFFFF">
              <a:alpha val="60000"/>
            </a:srgbClr>
          </a:solidFill>
          <a:ln>
            <a:noFill/>
          </a:ln>
        </p:spPr>
        <p:txBody>
          <a:bodyPr/>
          <a:lstStyle/>
          <a:p>
            <a:endParaRPr lang="en-US"/>
          </a:p>
        </p:txBody>
      </p:sp>
      <p:sp>
        <p:nvSpPr>
          <p:cNvPr id="21" name="Title"/>
          <p:cNvSpPr txBox="1"/>
          <p:nvPr/>
        </p:nvSpPr>
        <p:spPr>
          <a:xfrm>
            <a:off x="1016000" y="381000"/>
            <a:ext cx="10160000" cy="889000"/>
          </a:xfrm>
          <a:prstGeom prst="rect">
            <a:avLst/>
          </a:prstGeom>
          <a:noFill/>
          <a:ln>
            <a:noFill/>
          </a:ln>
        </p:spPr>
        <p:txBody>
          <a:bodyPr wrap="square" lIns="91440" tIns="45720" rIns="91440" bIns="45720" anchor="ctr"/>
          <a:lstStyle/>
          <a:p>
            <a:pPr algn="ctr">
              <a:buNone/>
            </a:pPr>
            <a:r>
              <a:rPr lang="en-US" sz="4400" b="1" dirty="0">
                <a:solidFill>
                  <a:srgbClr val="FFFFFF"/>
                </a:solidFill>
                <a:latin typeface="Calibri"/>
              </a:rPr>
              <a:t>Thank You</a:t>
            </a:r>
          </a:p>
        </p:txBody>
      </p:sp>
      <p:sp>
        <p:nvSpPr>
          <p:cNvPr id="22" name="Subtitle"/>
          <p:cNvSpPr txBox="1"/>
          <p:nvPr/>
        </p:nvSpPr>
        <p:spPr>
          <a:xfrm>
            <a:off x="1016000" y="1460500"/>
            <a:ext cx="10160000" cy="444500"/>
          </a:xfrm>
          <a:prstGeom prst="rect">
            <a:avLst/>
          </a:prstGeom>
          <a:noFill/>
          <a:ln>
            <a:noFill/>
          </a:ln>
        </p:spPr>
        <p:txBody>
          <a:bodyPr wrap="square" lIns="91440" tIns="45720" rIns="91440" bIns="45720" anchor="ctr"/>
          <a:lstStyle/>
          <a:p>
            <a:pPr algn="ctr">
              <a:buNone/>
            </a:pPr>
            <a:r>
              <a:rPr lang="en-US" sz="1800" dirty="0">
                <a:solidFill>
                  <a:srgbClr val="FFFFFF"/>
                </a:solidFill>
                <a:latin typeface="Calibri"/>
              </a:rPr>
              <a:t>Akshay Dipta  |  Senior Engineer  |  London Cadbury Team, London</a:t>
            </a:r>
          </a:p>
        </p:txBody>
      </p:sp>
      <p:sp>
        <p:nvSpPr>
          <p:cNvPr id="23" name="Tagline"/>
          <p:cNvSpPr txBox="1"/>
          <p:nvPr/>
        </p:nvSpPr>
        <p:spPr>
          <a:xfrm>
            <a:off x="1651000" y="1968500"/>
            <a:ext cx="8890000" cy="444500"/>
          </a:xfrm>
          <a:prstGeom prst="rect">
            <a:avLst/>
          </a:prstGeom>
          <a:noFill/>
          <a:ln>
            <a:noFill/>
          </a:ln>
        </p:spPr>
        <p:txBody>
          <a:bodyPr wrap="square" lIns="91440" tIns="45720" rIns="91440" bIns="45720" anchor="ctr"/>
          <a:lstStyle/>
          <a:p>
            <a:pPr algn="ctr">
              <a:buNone/>
            </a:pPr>
            <a:r>
              <a:rPr lang="en-US" sz="1500" i="1" dirty="0">
                <a:solidFill>
                  <a:srgbClr val="B8C9E8"/>
                </a:solidFill>
                <a:latin typeface="Calibri"/>
              </a:rPr>
              <a:t>Excited to continue driving innovation and delivering value at Deutsche Bank</a:t>
            </a:r>
          </a:p>
        </p:txBody>
      </p:sp>
      <p:sp>
        <p:nvSpPr>
          <p:cNvPr id="24" name="Divider"/>
          <p:cNvSpPr/>
          <p:nvPr/>
        </p:nvSpPr>
        <p:spPr>
          <a:xfrm>
            <a:off x="1270000" y="2540000"/>
            <a:ext cx="9652000" cy="12700"/>
          </a:xfrm>
          <a:prstGeom prst="rect">
            <a:avLst/>
          </a:prstGeom>
          <a:solidFill>
            <a:srgbClr val="FFFFFF">
              <a:alpha val="40000"/>
            </a:srgbClr>
          </a:solidFill>
          <a:ln>
            <a:noFill/>
          </a:ln>
        </p:spPr>
        <p:txBody>
          <a:bodyPr/>
          <a:lstStyle/>
          <a:p>
            <a:endParaRPr lang="en-US"/>
          </a:p>
        </p:txBody>
      </p:sp>
      <p:sp>
        <p:nvSpPr>
          <p:cNvPr id="25" name="Section Header"/>
          <p:cNvSpPr txBox="1"/>
          <p:nvPr/>
        </p:nvSpPr>
        <p:spPr>
          <a:xfrm>
            <a:off x="1016000" y="2641600"/>
            <a:ext cx="10160000" cy="355600"/>
          </a:xfrm>
          <a:prstGeom prst="rect">
            <a:avLst/>
          </a:prstGeom>
          <a:noFill/>
          <a:ln>
            <a:noFill/>
          </a:ln>
        </p:spPr>
        <p:txBody>
          <a:bodyPr wrap="square" lIns="91440" tIns="45720" rIns="91440" bIns="45720" anchor="ctr"/>
          <a:lstStyle/>
          <a:p>
            <a:pPr algn="ctr">
              <a:buNone/>
            </a:pPr>
            <a:r>
              <a:rPr lang="en-US" sz="1400" b="1" dirty="0">
                <a:solidFill>
                  <a:srgbClr val="FFFFFF"/>
                </a:solidFill>
                <a:latin typeface="Calibri"/>
              </a:rPr>
              <a:t>Sponsors &amp; Endorsements</a:t>
            </a:r>
          </a:p>
        </p:txBody>
      </p:sp>
      <p:sp>
        <p:nvSpPr>
          <p:cNvPr id="30" name="Card1 BG"/>
          <p:cNvSpPr/>
          <p:nvPr/>
        </p:nvSpPr>
        <p:spPr>
          <a:xfrm>
            <a:off x="952500" y="3111500"/>
            <a:ext cx="2425700" cy="3238500"/>
          </a:xfrm>
          <a:prstGeom prst="roundRect">
            <a:avLst/>
          </a:prstGeom>
          <a:solidFill>
            <a:srgbClr val="FFFFFF">
              <a:alpha val="12000"/>
            </a:srgbClr>
          </a:solidFill>
          <a:ln>
            <a:noFill/>
          </a:ln>
        </p:spPr>
        <p:txBody>
          <a:bodyPr/>
          <a:lstStyle/>
          <a:p>
            <a:endParaRPr lang="en-US"/>
          </a:p>
        </p:txBody>
      </p:sp>
      <p:sp>
        <p:nvSpPr>
          <p:cNvPr id="31" name="Card1 Text"/>
          <p:cNvSpPr txBox="1"/>
          <p:nvPr/>
        </p:nvSpPr>
        <p:spPr>
          <a:xfrm>
            <a:off x="952500" y="3175000"/>
            <a:ext cx="2425700" cy="3111500"/>
          </a:xfrm>
          <a:prstGeom prst="rect">
            <a:avLst/>
          </a:prstGeom>
          <a:noFill/>
          <a:ln>
            <a:noFill/>
          </a:ln>
        </p:spPr>
        <p:txBody>
          <a:bodyPr wrap="square" lIns="91440" tIns="45720" rIns="91440" bIns="45720" anchor="t"/>
          <a:lstStyle/>
          <a:p>
            <a:pPr algn="ctr">
              <a:buNone/>
            </a:pPr>
            <a:r>
              <a:rPr lang="en-US" sz="1600" b="1" dirty="0">
                <a:solidFill>
                  <a:srgbClr val="FFFFFF"/>
                </a:solidFill>
                <a:latin typeface="Calibri"/>
              </a:rPr>
              <a:t>Marco Luebbers</a:t>
            </a:r>
          </a:p>
          <a:p>
            <a:pPr algn="ctr">
              <a:buNone/>
            </a:pPr>
            <a:r>
              <a:rPr lang="en-US" sz="1200" dirty="0">
                <a:solidFill>
                  <a:srgbClr val="B8C9E8"/>
                </a:solidFill>
                <a:latin typeface="Calibri"/>
              </a:rPr>
              <a:t>Managing Director</a:t>
            </a:r>
          </a:p>
          <a:p>
            <a:pPr algn="ctr">
              <a:buNone/>
            </a:pPr>
            <a:r>
              <a:rPr lang="en-US" sz="1200" dirty="0">
                <a:solidFill>
                  <a:srgbClr val="B8C9E8"/>
                </a:solidFill>
                <a:latin typeface="Calibri"/>
              </a:rPr>
              <a:t>Head of KYC Ops Steering</a:t>
            </a:r>
          </a:p>
          <a:p>
            <a:pPr algn="ctr">
              <a:buNone/>
            </a:pPr>
            <a:r>
              <a:rPr lang="en-US" sz="1200" dirty="0">
                <a:solidFill>
                  <a:srgbClr val="B8C9E8"/>
                </a:solidFill>
                <a:latin typeface="Calibri"/>
              </a:rPr>
              <a:t>&amp; Perimeter Governance</a:t>
            </a:r>
          </a:p>
          <a:p>
            <a:pPr algn="ctr">
              <a:spcBef>
                <a:spcPts val="600"/>
              </a:spcBef>
              <a:buNone/>
            </a:pPr>
            <a:r>
              <a:rPr lang="en-US" sz="1400" b="1" i="1" dirty="0">
                <a:solidFill>
                  <a:srgbClr val="FFD966"/>
                </a:solidFill>
                <a:latin typeface="Calibri"/>
              </a:rPr>
              <a:t>(TBC)</a:t>
            </a:r>
          </a:p>
        </p:txBody>
      </p:sp>
      <p:sp>
        <p:nvSpPr>
          <p:cNvPr id="32" name="Card2 BG"/>
          <p:cNvSpPr/>
          <p:nvPr/>
        </p:nvSpPr>
        <p:spPr>
          <a:xfrm>
            <a:off x="3568700" y="3111500"/>
            <a:ext cx="2425700" cy="3238500"/>
          </a:xfrm>
          <a:prstGeom prst="roundRect">
            <a:avLst/>
          </a:prstGeom>
          <a:solidFill>
            <a:srgbClr val="FFFFFF">
              <a:alpha val="12000"/>
            </a:srgbClr>
          </a:solidFill>
          <a:ln>
            <a:noFill/>
          </a:ln>
        </p:spPr>
        <p:txBody>
          <a:bodyPr/>
          <a:lstStyle/>
          <a:p>
            <a:endParaRPr lang="en-US"/>
          </a:p>
        </p:txBody>
      </p:sp>
      <p:sp>
        <p:nvSpPr>
          <p:cNvPr id="33" name="Card2 Text"/>
          <p:cNvSpPr txBox="1"/>
          <p:nvPr/>
        </p:nvSpPr>
        <p:spPr>
          <a:xfrm>
            <a:off x="3568700" y="3175000"/>
            <a:ext cx="2425700" cy="3111500"/>
          </a:xfrm>
          <a:prstGeom prst="rect">
            <a:avLst/>
          </a:prstGeom>
          <a:noFill/>
          <a:ln>
            <a:noFill/>
          </a:ln>
        </p:spPr>
        <p:txBody>
          <a:bodyPr wrap="square" lIns="91440" tIns="45720" rIns="91440" bIns="45720" anchor="t"/>
          <a:lstStyle/>
          <a:p>
            <a:pPr algn="ctr">
              <a:buNone/>
            </a:pPr>
            <a:r>
              <a:rPr lang="en-US" sz="1600" b="1" dirty="0">
                <a:solidFill>
                  <a:srgbClr val="FFFFFF"/>
                </a:solidFill>
                <a:latin typeface="Calibri"/>
              </a:rPr>
              <a:t>Tong Su</a:t>
            </a:r>
          </a:p>
          <a:p>
            <a:pPr algn="ctr">
              <a:buNone/>
            </a:pPr>
            <a:r>
              <a:rPr lang="en-US" sz="1200" dirty="0">
                <a:solidFill>
                  <a:srgbClr val="B8C9E8"/>
                </a:solidFill>
                <a:latin typeface="Calibri"/>
              </a:rPr>
              <a:t>Director, CTO Initiative Lead</a:t>
            </a:r>
          </a:p>
          <a:p>
            <a:pPr algn="ctr">
              <a:spcBef>
                <a:spcPts val="800"/>
              </a:spcBef>
              <a:buNone/>
            </a:pPr>
            <a:r>
              <a:rPr lang="en-US" sz="1100" i="1" dirty="0">
                <a:solidFill>
                  <a:srgbClr val="D0DBF0"/>
                </a:solidFill>
                <a:latin typeface="Calibri"/>
              </a:rPr>
              <a:t>"One of the most outstanding software engineers I've had the pleasure to collaborate with... consistent focus on building clean and reusable code that benefits not just our immediate project, but also the wider engineering community."</a:t>
            </a:r>
          </a:p>
        </p:txBody>
      </p:sp>
      <p:sp>
        <p:nvSpPr>
          <p:cNvPr id="34" name="Card3 BG"/>
          <p:cNvSpPr/>
          <p:nvPr/>
        </p:nvSpPr>
        <p:spPr>
          <a:xfrm>
            <a:off x="6184900" y="3111500"/>
            <a:ext cx="2425700" cy="3238500"/>
          </a:xfrm>
          <a:prstGeom prst="roundRect">
            <a:avLst/>
          </a:prstGeom>
          <a:solidFill>
            <a:srgbClr val="FFFFFF">
              <a:alpha val="12000"/>
            </a:srgbClr>
          </a:solidFill>
          <a:ln>
            <a:noFill/>
          </a:ln>
        </p:spPr>
        <p:txBody>
          <a:bodyPr/>
          <a:lstStyle/>
          <a:p>
            <a:endParaRPr lang="en-US"/>
          </a:p>
        </p:txBody>
      </p:sp>
      <p:sp>
        <p:nvSpPr>
          <p:cNvPr id="35" name="Card3 Text"/>
          <p:cNvSpPr txBox="1"/>
          <p:nvPr/>
        </p:nvSpPr>
        <p:spPr>
          <a:xfrm>
            <a:off x="6184900" y="3175000"/>
            <a:ext cx="2425700" cy="3111500"/>
          </a:xfrm>
          <a:prstGeom prst="rect">
            <a:avLst/>
          </a:prstGeom>
          <a:noFill/>
          <a:ln>
            <a:noFill/>
          </a:ln>
        </p:spPr>
        <p:txBody>
          <a:bodyPr wrap="square" lIns="91440" tIns="45720" rIns="91440" bIns="45720" anchor="t"/>
          <a:lstStyle/>
          <a:p>
            <a:pPr algn="ctr">
              <a:buNone/>
            </a:pPr>
            <a:r>
              <a:rPr lang="en-US" sz="1600" b="1" dirty="0">
                <a:solidFill>
                  <a:srgbClr val="FFFFFF"/>
                </a:solidFill>
                <a:latin typeface="Calibri"/>
              </a:rPr>
              <a:t>Lalitha Lalwani</a:t>
            </a:r>
          </a:p>
          <a:p>
            <a:pPr algn="ctr">
              <a:buNone/>
            </a:pPr>
            <a:r>
              <a:rPr lang="en-US" sz="1200" dirty="0">
                <a:solidFill>
                  <a:srgbClr val="B8C9E8"/>
                </a:solidFill>
                <a:latin typeface="Calibri"/>
              </a:rPr>
              <a:t>Director, Architect, CTO Platform</a:t>
            </a:r>
          </a:p>
        </p:txBody>
      </p:sp>
      <p:sp>
        <p:nvSpPr>
          <p:cNvPr id="2" name="Card4 BG">
            <a:extLst>
              <a:ext uri="{FF2B5EF4-FFF2-40B4-BE49-F238E27FC236}">
                <a16:creationId xmlns:a16="http://schemas.microsoft.com/office/drawing/2014/main" id="{99FC6D49-9E35-814D-AEFD-7A638802A546}"/>
              </a:ext>
            </a:extLst>
          </p:cNvPr>
          <p:cNvSpPr/>
          <p:nvPr/>
        </p:nvSpPr>
        <p:spPr>
          <a:xfrm>
            <a:off x="8801100" y="3111500"/>
            <a:ext cx="2425700" cy="3238500"/>
          </a:xfrm>
          <a:prstGeom prst="roundRect">
            <a:avLst/>
          </a:prstGeom>
          <a:solidFill>
            <a:srgbClr val="FFFFFF">
              <a:alpha val="12000"/>
            </a:srgbClr>
          </a:solidFill>
          <a:ln>
            <a:noFill/>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Card4 Text">
            <a:extLst>
              <a:ext uri="{FF2B5EF4-FFF2-40B4-BE49-F238E27FC236}">
                <a16:creationId xmlns:a16="http://schemas.microsoft.com/office/drawing/2014/main" id="{743004EA-6DD5-EA4C-AD2B-E45C3A69EAFB}"/>
              </a:ext>
            </a:extLst>
          </p:cNvPr>
          <p:cNvSpPr txBox="1"/>
          <p:nvPr/>
        </p:nvSpPr>
        <p:spPr>
          <a:xfrm>
            <a:off x="8801100" y="3175000"/>
            <a:ext cx="2425700" cy="707886"/>
          </a:xfrm>
          <a:prstGeom prst="rect">
            <a:avLst/>
          </a:prstGeom>
          <a:noFill/>
        </p:spPr>
        <p:txBody>
          <a:bodyPr vertOverflow="overflow" vert="horz" wrap="square" rtlCol="0" anchor="t">
            <a:spAutoFit/>
          </a:bodyPr>
          <a:lstStyle/>
          <a:p>
            <a:pPr algn="ctr">
              <a:buNone/>
            </a:pPr>
            <a:r>
              <a:rPr lang="en-US" sz="1600" b="1" dirty="0">
                <a:solidFill>
                  <a:srgbClr val="FFFFFF"/>
                </a:solidFill>
                <a:latin typeface="Calibri"/>
              </a:rPr>
              <a:t>Chris Ashley</a:t>
            </a:r>
          </a:p>
          <a:p>
            <a:pPr algn="ctr">
              <a:buNone/>
            </a:pPr>
            <a:r>
              <a:rPr lang="en-US" sz="1200" dirty="0">
                <a:solidFill>
                  <a:srgbClr val="B8C9E8"/>
                </a:solidFill>
                <a:latin typeface="Calibri"/>
              </a:rPr>
              <a:t>Director, CB &amp; IB Ops/Ctrl- Conduct &amp; Control Risk</a:t>
            </a:r>
          </a:p>
        </p:txBody>
      </p:sp>
    </p:spTree>
    <p:extLst>
      <p:ext uri="{BB962C8B-B14F-4D97-AF65-F5344CB8AC3E}">
        <p14:creationId xmlns:p14="http://schemas.microsoft.com/office/powerpoint/2010/main" val="3496358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FEB6FE-B691-C142-9D6F-BF31F18AD048}">
  <we:reference id="wa200010001" version="1.0.0.1" store="en-US" storeType="OMEX"/>
  <we:alternateReferences>
    <we:reference id="WA200010001" version="1.0.0.1" store="" storeType="OMEX"/>
  </we:alternateReferences>
  <we:properties>
    <we:property name="claude.fileId" value="&quot;ded380d6-be00-4cce-872a-9b3503d2452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69</TotalTime>
  <Words>704</Words>
  <Application>Microsoft Macintosh PowerPoint</Application>
  <PresentationFormat>Widescreen</PresentationFormat>
  <Paragraphs>120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Akshay Dipta</cp:lastModifiedBy>
  <cp:revision>8</cp:revision>
  <dcterms:created xsi:type="dcterms:W3CDTF">2013-01-27T09:14:16Z</dcterms:created>
  <dcterms:modified xsi:type="dcterms:W3CDTF">2026-05-19T16:21:19Z</dcterms:modified>
  <cp:category/>
</cp:coreProperties>
</file>