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1E96"/>
        </a:solidFill>
        <a:effectLst/>
      </p:bgPr>
    </p:bg>
    <p:spTree>
      <p:nvGrpSpPr>
        <p:cNvPr id="1" name=""/>
        <p:cNvGrpSpPr/>
        <p:nvPr/>
      </p:nvGrpSpPr>
      <p:grpSpPr/>
      <p:sp>
        <p:nvSpPr>
          <p:cNvPr id="2" name="TextBox 1"/>
          <p:cNvSpPr txBox="1"/>
          <p:nvPr/>
        </p:nvSpPr>
        <p:spPr>
          <a:xfrm>
            <a:off x="914400" y="1463040"/>
            <a:ext cx="10332720" cy="1280160"/>
          </a:xfrm>
          <a:prstGeom prst="rect">
            <a:avLst/>
          </a:prstGeom>
          <a:noFill/>
        </p:spPr>
        <p:txBody>
          <a:bodyPr wrap="square">
            <a:spAutoFit/>
          </a:bodyPr>
          <a:lstStyle/>
          <a:p>
            <a:pPr algn="ctr">
              <a:defRPr sz="4800" b="1" i="0">
                <a:solidFill>
                  <a:srgbClr val="FFFFFF"/>
                </a:solidFill>
                <a:latin typeface="Calibri"/>
              </a:defRPr>
            </a:pPr>
            <a:r>
              <a:t>Akshay Dipta</a:t>
            </a:r>
          </a:p>
        </p:txBody>
      </p:sp>
      <p:sp>
        <p:nvSpPr>
          <p:cNvPr id="3" name="TextBox 2"/>
          <p:cNvSpPr txBox="1"/>
          <p:nvPr/>
        </p:nvSpPr>
        <p:spPr>
          <a:xfrm>
            <a:off x="914400" y="2788920"/>
            <a:ext cx="10332720" cy="731520"/>
          </a:xfrm>
          <a:prstGeom prst="rect">
            <a:avLst/>
          </a:prstGeom>
          <a:noFill/>
        </p:spPr>
        <p:txBody>
          <a:bodyPr wrap="square">
            <a:spAutoFit/>
          </a:bodyPr>
          <a:lstStyle/>
          <a:p>
            <a:pPr algn="ctr">
              <a:defRPr sz="3000" b="0" i="0">
                <a:solidFill>
                  <a:srgbClr val="CCCCFF"/>
                </a:solidFill>
                <a:latin typeface="Calibri"/>
              </a:defRPr>
            </a:pPr>
            <a:r>
              <a:t>VP Promotion  |  Senior Engineer</a:t>
            </a:r>
          </a:p>
        </p:txBody>
      </p:sp>
      <p:sp>
        <p:nvSpPr>
          <p:cNvPr id="4" name="TextBox 3"/>
          <p:cNvSpPr txBox="1"/>
          <p:nvPr/>
        </p:nvSpPr>
        <p:spPr>
          <a:xfrm>
            <a:off x="914400" y="3886200"/>
            <a:ext cx="10332720" cy="548640"/>
          </a:xfrm>
          <a:prstGeom prst="rect">
            <a:avLst/>
          </a:prstGeom>
          <a:noFill/>
        </p:spPr>
        <p:txBody>
          <a:bodyPr wrap="square">
            <a:spAutoFit/>
          </a:bodyPr>
          <a:lstStyle/>
          <a:p>
            <a:pPr algn="ctr">
              <a:defRPr sz="1900" b="0" i="0">
                <a:solidFill>
                  <a:srgbClr val="FFFFFF"/>
                </a:solidFill>
                <a:latin typeface="Calibri"/>
              </a:defRPr>
            </a:pPr>
            <a:r>
              <a:t>London Cadbury Team  |  Client Life Cycle Management  |  London</a:t>
            </a:r>
          </a:p>
        </p:txBody>
      </p:sp>
      <p:sp>
        <p:nvSpPr>
          <p:cNvPr id="5" name="Rectangle 4"/>
          <p:cNvSpPr/>
          <p:nvPr/>
        </p:nvSpPr>
        <p:spPr>
          <a:xfrm>
            <a:off x="4937760" y="4709160"/>
            <a:ext cx="2286000" cy="36576"/>
          </a:xfrm>
          <a:prstGeom prst="rect">
            <a:avLst/>
          </a:prstGeom>
          <a:solidFill>
            <a:srgbClr val="CCC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332720" cy="457200"/>
          </a:xfrm>
          <a:prstGeom prst="rect">
            <a:avLst/>
          </a:prstGeom>
          <a:noFill/>
        </p:spPr>
        <p:txBody>
          <a:bodyPr wrap="square">
            <a:spAutoFit/>
          </a:bodyPr>
          <a:lstStyle/>
          <a:p>
            <a:pPr algn="ctr">
              <a:defRPr sz="1700" b="0" i="0">
                <a:solidFill>
                  <a:srgbClr val="CCCCFF"/>
                </a:solidFill>
                <a:latin typeface="Calibri"/>
              </a:defRPr>
            </a:pPr>
            <a:r>
              <a:t>Deutsche Bank, Technology, Data and Innovation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56032"/>
            <a:ext cx="10972800" cy="640080"/>
          </a:xfrm>
          <a:prstGeom prst="rect">
            <a:avLst/>
          </a:prstGeom>
          <a:noFill/>
        </p:spPr>
        <p:txBody>
          <a:bodyPr wrap="square">
            <a:spAutoFit/>
          </a:bodyPr>
          <a:lstStyle/>
          <a:p>
            <a:pPr algn="l">
              <a:defRPr sz="3000" b="1" i="0">
                <a:solidFill>
                  <a:srgbClr val="001E96"/>
                </a:solidFill>
                <a:latin typeface="Calibri"/>
              </a:defRPr>
            </a:pPr>
            <a:r>
              <a:t>About Me, and What My Platform Does</a:t>
            </a:r>
          </a:p>
        </p:txBody>
      </p:sp>
      <p:sp>
        <p:nvSpPr>
          <p:cNvPr id="3" name="Rounded Rectangle 2"/>
          <p:cNvSpPr/>
          <p:nvPr/>
        </p:nvSpPr>
        <p:spPr>
          <a:xfrm>
            <a:off x="640080" y="1005840"/>
            <a:ext cx="5349240" cy="4572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500" b="1">
                <a:solidFill>
                  <a:srgbClr val="FFFFFF"/>
                </a:solidFill>
                <a:latin typeface="Calibri"/>
              </a:defRPr>
            </a:pPr>
            <a:r>
              <a:t>13 Years in Financial Technology</a:t>
            </a:r>
          </a:p>
        </p:txBody>
      </p:sp>
      <p:sp>
        <p:nvSpPr>
          <p:cNvPr id="4" name="TextBox 3"/>
          <p:cNvSpPr txBox="1"/>
          <p:nvPr/>
        </p:nvSpPr>
        <p:spPr>
          <a:xfrm>
            <a:off x="822960" y="1481328"/>
            <a:ext cx="5029200" cy="1280160"/>
          </a:xfrm>
          <a:prstGeom prst="rect">
            <a:avLst/>
          </a:prstGeom>
          <a:noFill/>
        </p:spPr>
        <p:txBody>
          <a:bodyPr wrap="square">
            <a:spAutoFit/>
          </a:bodyPr>
          <a:lstStyle/>
          <a:p>
            <a:pPr>
              <a:spcBef>
                <a:spcPts val="600"/>
              </a:spcBef>
              <a:defRPr sz="1400" b="0">
                <a:solidFill>
                  <a:srgbClr val="333333"/>
                </a:solidFill>
                <a:latin typeface="Calibri"/>
              </a:defRPr>
            </a:pPr>
            <a:r>
              <a:t>JP Morgan  ·  HSBC  ·  American Express  ·  Deutsche Bank</a:t>
            </a:r>
          </a:p>
          <a:p>
            <a:pPr>
              <a:spcBef>
                <a:spcPts val="600"/>
              </a:spcBef>
              <a:defRPr sz="1400" b="0">
                <a:solidFill>
                  <a:srgbClr val="333333"/>
                </a:solidFill>
                <a:latin typeface="Calibri"/>
              </a:defRPr>
            </a:pPr>
            <a:r>
              <a:t>Joined Deutsche Bank in March 2023</a:t>
            </a:r>
          </a:p>
          <a:p>
            <a:pPr>
              <a:spcBef>
                <a:spcPts val="600"/>
              </a:spcBef>
              <a:defRPr sz="1400" b="0">
                <a:solidFill>
                  <a:srgbClr val="333333"/>
                </a:solidFill>
                <a:latin typeface="Calibri"/>
              </a:defRPr>
            </a:pPr>
            <a:r>
              <a:t>Java  ·  Spring Boot  ·  Kafka  ·  AI  ·  Microservices</a:t>
            </a:r>
          </a:p>
        </p:txBody>
      </p:sp>
      <p:sp>
        <p:nvSpPr>
          <p:cNvPr id="5" name="Rounded Rectangle 4"/>
          <p:cNvSpPr/>
          <p:nvPr/>
        </p:nvSpPr>
        <p:spPr>
          <a:xfrm>
            <a:off x="6309360" y="1005840"/>
            <a:ext cx="5257800" cy="4572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500" b="1">
                <a:solidFill>
                  <a:srgbClr val="FFFFFF"/>
                </a:solidFill>
                <a:latin typeface="Calibri"/>
              </a:defRPr>
            </a:pPr>
            <a:r>
              <a:t>My Roles</a:t>
            </a:r>
          </a:p>
        </p:txBody>
      </p:sp>
      <p:sp>
        <p:nvSpPr>
          <p:cNvPr id="6" name="TextBox 5"/>
          <p:cNvSpPr txBox="1"/>
          <p:nvPr/>
        </p:nvSpPr>
        <p:spPr>
          <a:xfrm>
            <a:off x="6492240" y="1481328"/>
            <a:ext cx="4937760" cy="1280160"/>
          </a:xfrm>
          <a:prstGeom prst="rect">
            <a:avLst/>
          </a:prstGeom>
          <a:noFill/>
        </p:spPr>
        <p:txBody>
          <a:bodyPr wrap="square">
            <a:spAutoFit/>
          </a:bodyPr>
          <a:lstStyle/>
          <a:p>
            <a:pPr>
              <a:spcBef>
                <a:spcPts val="600"/>
              </a:spcBef>
              <a:defRPr sz="1400" b="0">
                <a:solidFill>
                  <a:srgbClr val="333333"/>
                </a:solidFill>
                <a:latin typeface="Calibri"/>
              </a:defRPr>
            </a:pPr>
            <a:r>
              <a:t>AI lead for the business unit</a:t>
            </a:r>
          </a:p>
          <a:p>
            <a:pPr>
              <a:spcBef>
                <a:spcPts val="600"/>
              </a:spcBef>
              <a:defRPr sz="1400" b="0">
                <a:solidFill>
                  <a:srgbClr val="333333"/>
                </a:solidFill>
                <a:latin typeface="Calibri"/>
              </a:defRPr>
            </a:pPr>
            <a:r>
              <a:t>Technical authority for messaging and AI infrastructure</a:t>
            </a:r>
          </a:p>
          <a:p>
            <a:pPr>
              <a:spcBef>
                <a:spcPts val="600"/>
              </a:spcBef>
              <a:defRPr sz="1400" b="0">
                <a:solidFill>
                  <a:srgbClr val="333333"/>
                </a:solidFill>
                <a:latin typeface="Calibri"/>
              </a:defRPr>
            </a:pPr>
            <a:r>
              <a:t>Component Guardian. Every design and code approval goes through me</a:t>
            </a:r>
          </a:p>
        </p:txBody>
      </p:sp>
      <p:sp>
        <p:nvSpPr>
          <p:cNvPr id="7" name="Rounded Rectangle 6"/>
          <p:cNvSpPr/>
          <p:nvPr/>
        </p:nvSpPr>
        <p:spPr>
          <a:xfrm>
            <a:off x="640080" y="2880360"/>
            <a:ext cx="10927080" cy="4572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500" b="1">
                <a:solidFill>
                  <a:srgbClr val="FFFFFF"/>
                </a:solidFill>
                <a:latin typeface="Calibri"/>
              </a:defRPr>
            </a:pPr>
            <a:r>
              <a:t>My Platform</a:t>
            </a:r>
          </a:p>
        </p:txBody>
      </p:sp>
      <p:sp>
        <p:nvSpPr>
          <p:cNvPr id="8" name="TextBox 7"/>
          <p:cNvSpPr txBox="1"/>
          <p:nvPr/>
        </p:nvSpPr>
        <p:spPr>
          <a:xfrm>
            <a:off x="640080" y="3383280"/>
            <a:ext cx="10927080" cy="411480"/>
          </a:xfrm>
          <a:prstGeom prst="rect">
            <a:avLst/>
          </a:prstGeom>
          <a:noFill/>
        </p:spPr>
        <p:txBody>
          <a:bodyPr wrap="square">
            <a:spAutoFit/>
          </a:bodyPr>
          <a:lstStyle/>
          <a:p>
            <a:pPr algn="ctr">
              <a:defRPr sz="1500" b="0" i="1">
                <a:solidFill>
                  <a:srgbClr val="333333"/>
                </a:solidFill>
                <a:latin typeface="Calibri"/>
              </a:defRPr>
            </a:pPr>
            <a:r>
              <a:t>Before the bank takes on a client, it must prove who owns them, who runs them, and that the paperwork stands up.</a:t>
            </a:r>
          </a:p>
        </p:txBody>
      </p:sp>
      <p:sp>
        <p:nvSpPr>
          <p:cNvPr id="9" name="Rounded Rectangle 8"/>
          <p:cNvSpPr/>
          <p:nvPr/>
        </p:nvSpPr>
        <p:spPr>
          <a:xfrm>
            <a:off x="640080" y="3931920"/>
            <a:ext cx="2505456" cy="1188720"/>
          </a:xfrm>
          <a:prstGeom prst="roundRect">
            <a:avLst/>
          </a:prstGeom>
          <a:solidFill>
            <a:srgbClr val="E8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426BB4"/>
                </a:solidFill>
                <a:latin typeface="Calibri"/>
              </a:defRPr>
            </a:pPr>
            <a:r>
              <a:t>1</a:t>
            </a:r>
          </a:p>
          <a:p>
            <a:pPr algn="ctr">
              <a:defRPr sz="1500" b="1">
                <a:solidFill>
                  <a:srgbClr val="001E96"/>
                </a:solidFill>
                <a:latin typeface="Calibri"/>
              </a:defRPr>
            </a:pPr>
            <a:r>
              <a:t>Document arrives</a:t>
            </a:r>
          </a:p>
        </p:txBody>
      </p:sp>
      <p:sp>
        <p:nvSpPr>
          <p:cNvPr id="10" name="TextBox 9"/>
          <p:cNvSpPr txBox="1"/>
          <p:nvPr/>
        </p:nvSpPr>
        <p:spPr>
          <a:xfrm>
            <a:off x="640080" y="5193792"/>
            <a:ext cx="2505456" cy="365760"/>
          </a:xfrm>
          <a:prstGeom prst="rect">
            <a:avLst/>
          </a:prstGeom>
          <a:noFill/>
        </p:spPr>
        <p:txBody>
          <a:bodyPr wrap="square">
            <a:spAutoFit/>
          </a:bodyPr>
          <a:lstStyle/>
          <a:p>
            <a:pPr algn="ctr">
              <a:defRPr sz="1300" b="1" i="0">
                <a:solidFill>
                  <a:srgbClr val="2E7D32"/>
                </a:solidFill>
                <a:latin typeface="Calibri"/>
              </a:defRPr>
            </a:pPr>
            <a:r>
              <a:t>Messaging I rebuilt</a:t>
            </a:r>
          </a:p>
        </p:txBody>
      </p:sp>
      <p:sp>
        <p:nvSpPr>
          <p:cNvPr id="11" name="Rounded Rectangle 10"/>
          <p:cNvSpPr/>
          <p:nvPr/>
        </p:nvSpPr>
        <p:spPr>
          <a:xfrm>
            <a:off x="3447288" y="3931920"/>
            <a:ext cx="2505456" cy="1188720"/>
          </a:xfrm>
          <a:prstGeom prst="roundRect">
            <a:avLst/>
          </a:prstGeom>
          <a:solidFill>
            <a:srgbClr val="E8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426BB4"/>
                </a:solidFill>
                <a:latin typeface="Calibri"/>
              </a:defRPr>
            </a:pPr>
            <a:r>
              <a:t>2</a:t>
            </a:r>
          </a:p>
          <a:p>
            <a:pPr algn="ctr">
              <a:defRPr sz="1500" b="1">
                <a:solidFill>
                  <a:srgbClr val="001E96"/>
                </a:solidFill>
                <a:latin typeface="Calibri"/>
              </a:defRPr>
            </a:pPr>
            <a:r>
              <a:t>Linked to the right question</a:t>
            </a:r>
          </a:p>
        </p:txBody>
      </p:sp>
      <p:sp>
        <p:nvSpPr>
          <p:cNvPr id="12" name="TextBox 11"/>
          <p:cNvSpPr txBox="1"/>
          <p:nvPr/>
        </p:nvSpPr>
        <p:spPr>
          <a:xfrm>
            <a:off x="3447288" y="5193792"/>
            <a:ext cx="2505456" cy="365760"/>
          </a:xfrm>
          <a:prstGeom prst="rect">
            <a:avLst/>
          </a:prstGeom>
          <a:noFill/>
        </p:spPr>
        <p:txBody>
          <a:bodyPr wrap="square">
            <a:spAutoFit/>
          </a:bodyPr>
          <a:lstStyle/>
          <a:p>
            <a:pPr algn="ctr">
              <a:defRPr sz="1300" b="1" i="0">
                <a:solidFill>
                  <a:srgbClr val="2E7D32"/>
                </a:solidFill>
                <a:latin typeface="Calibri"/>
              </a:defRPr>
            </a:pPr>
            <a:r>
              <a:t>Automatic linking I built</a:t>
            </a:r>
          </a:p>
        </p:txBody>
      </p:sp>
      <p:sp>
        <p:nvSpPr>
          <p:cNvPr id="13" name="Rounded Rectangle 12"/>
          <p:cNvSpPr/>
          <p:nvPr/>
        </p:nvSpPr>
        <p:spPr>
          <a:xfrm>
            <a:off x="6254496" y="3931920"/>
            <a:ext cx="2505456" cy="1188720"/>
          </a:xfrm>
          <a:prstGeom prst="roundRect">
            <a:avLst/>
          </a:prstGeom>
          <a:solidFill>
            <a:srgbClr val="E8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426BB4"/>
                </a:solidFill>
                <a:latin typeface="Calibri"/>
              </a:defRPr>
            </a:pPr>
            <a:r>
              <a:t>3</a:t>
            </a:r>
          </a:p>
          <a:p>
            <a:pPr algn="ctr">
              <a:defRPr sz="1500" b="1">
                <a:solidFill>
                  <a:srgbClr val="001E96"/>
                </a:solidFill>
                <a:latin typeface="Calibri"/>
              </a:defRPr>
            </a:pPr>
            <a:r>
              <a:t>Validity checked</a:t>
            </a:r>
          </a:p>
        </p:txBody>
      </p:sp>
      <p:sp>
        <p:nvSpPr>
          <p:cNvPr id="14" name="TextBox 13"/>
          <p:cNvSpPr txBox="1"/>
          <p:nvPr/>
        </p:nvSpPr>
        <p:spPr>
          <a:xfrm>
            <a:off x="6254496" y="5193792"/>
            <a:ext cx="2505456" cy="365760"/>
          </a:xfrm>
          <a:prstGeom prst="rect">
            <a:avLst/>
          </a:prstGeom>
          <a:noFill/>
        </p:spPr>
        <p:txBody>
          <a:bodyPr wrap="square">
            <a:spAutoFit/>
          </a:bodyPr>
          <a:lstStyle/>
          <a:p>
            <a:pPr algn="ctr">
              <a:defRPr sz="1300" b="1" i="0">
                <a:solidFill>
                  <a:srgbClr val="2E7D32"/>
                </a:solidFill>
                <a:latin typeface="Calibri"/>
              </a:defRPr>
            </a:pPr>
            <a:r>
              <a:t>State machine I built</a:t>
            </a:r>
          </a:p>
        </p:txBody>
      </p:sp>
      <p:sp>
        <p:nvSpPr>
          <p:cNvPr id="15" name="Rounded Rectangle 14"/>
          <p:cNvSpPr/>
          <p:nvPr/>
        </p:nvSpPr>
        <p:spPr>
          <a:xfrm>
            <a:off x="9061704" y="3931920"/>
            <a:ext cx="2505456" cy="1188720"/>
          </a:xfrm>
          <a:prstGeom prst="roundRect">
            <a:avLst/>
          </a:prstGeom>
          <a:solidFill>
            <a:srgbClr val="E8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426BB4"/>
                </a:solidFill>
                <a:latin typeface="Calibri"/>
              </a:defRPr>
            </a:pPr>
            <a:r>
              <a:t>4</a:t>
            </a:r>
          </a:p>
          <a:p>
            <a:pPr algn="ctr">
              <a:defRPr sz="1500" b="1">
                <a:solidFill>
                  <a:srgbClr val="001E96"/>
                </a:solidFill>
                <a:latin typeface="Calibri"/>
              </a:defRPr>
            </a:pPr>
            <a:r>
              <a:t>Ready for regulatory review</a:t>
            </a:r>
          </a:p>
        </p:txBody>
      </p:sp>
      <p:sp>
        <p:nvSpPr>
          <p:cNvPr id="16" name="TextBox 15"/>
          <p:cNvSpPr txBox="1"/>
          <p:nvPr/>
        </p:nvSpPr>
        <p:spPr>
          <a:xfrm>
            <a:off x="9061704" y="5193792"/>
            <a:ext cx="2505456" cy="365760"/>
          </a:xfrm>
          <a:prstGeom prst="rect">
            <a:avLst/>
          </a:prstGeom>
          <a:noFill/>
        </p:spPr>
        <p:txBody>
          <a:bodyPr wrap="square">
            <a:spAutoFit/>
          </a:bodyPr>
          <a:lstStyle/>
          <a:p>
            <a:pPr algn="ctr">
              <a:defRPr sz="1300" b="1" i="0">
                <a:solidFill>
                  <a:srgbClr val="2E7D32"/>
                </a:solidFill>
                <a:latin typeface="Calibri"/>
              </a:defRPr>
            </a:pPr>
            <a:r>
              <a:t>Automatic unlinking I built</a:t>
            </a:r>
          </a:p>
        </p:txBody>
      </p:sp>
      <p:sp>
        <p:nvSpPr>
          <p:cNvPr id="17" name="TextBox 16"/>
          <p:cNvSpPr txBox="1"/>
          <p:nvPr/>
        </p:nvSpPr>
        <p:spPr>
          <a:xfrm>
            <a:off x="3145536" y="4297680"/>
            <a:ext cx="301752" cy="457200"/>
          </a:xfrm>
          <a:prstGeom prst="rect">
            <a:avLst/>
          </a:prstGeom>
          <a:noFill/>
        </p:spPr>
        <p:txBody>
          <a:bodyPr wrap="square">
            <a:spAutoFit/>
          </a:bodyPr>
          <a:lstStyle/>
          <a:p>
            <a:pPr algn="ctr">
              <a:defRPr sz="2200" b="1" i="0">
                <a:solidFill>
                  <a:srgbClr val="426BB4"/>
                </a:solidFill>
                <a:latin typeface="Calibri"/>
              </a:defRPr>
            </a:pPr>
            <a:r>
              <a:t>→</a:t>
            </a:r>
          </a:p>
        </p:txBody>
      </p:sp>
      <p:sp>
        <p:nvSpPr>
          <p:cNvPr id="18" name="TextBox 17"/>
          <p:cNvSpPr txBox="1"/>
          <p:nvPr/>
        </p:nvSpPr>
        <p:spPr>
          <a:xfrm>
            <a:off x="5952744" y="4297680"/>
            <a:ext cx="301752" cy="457200"/>
          </a:xfrm>
          <a:prstGeom prst="rect">
            <a:avLst/>
          </a:prstGeom>
          <a:noFill/>
        </p:spPr>
        <p:txBody>
          <a:bodyPr wrap="square">
            <a:spAutoFit/>
          </a:bodyPr>
          <a:lstStyle/>
          <a:p>
            <a:pPr algn="ctr">
              <a:defRPr sz="2200" b="1" i="0">
                <a:solidFill>
                  <a:srgbClr val="426BB4"/>
                </a:solidFill>
                <a:latin typeface="Calibri"/>
              </a:defRPr>
            </a:pPr>
            <a:r>
              <a:t>→</a:t>
            </a:r>
          </a:p>
        </p:txBody>
      </p:sp>
      <p:sp>
        <p:nvSpPr>
          <p:cNvPr id="19" name="TextBox 18"/>
          <p:cNvSpPr txBox="1"/>
          <p:nvPr/>
        </p:nvSpPr>
        <p:spPr>
          <a:xfrm>
            <a:off x="8759952" y="4297680"/>
            <a:ext cx="301752" cy="457200"/>
          </a:xfrm>
          <a:prstGeom prst="rect">
            <a:avLst/>
          </a:prstGeom>
          <a:noFill/>
        </p:spPr>
        <p:txBody>
          <a:bodyPr wrap="square">
            <a:spAutoFit/>
          </a:bodyPr>
          <a:lstStyle/>
          <a:p>
            <a:pPr algn="ctr">
              <a:defRPr sz="2200" b="1" i="0">
                <a:solidFill>
                  <a:srgbClr val="426BB4"/>
                </a:solidFill>
                <a:latin typeface="Calibri"/>
              </a:defRPr>
            </a:pPr>
            <a:r>
              <a:t>→</a:t>
            </a:r>
          </a:p>
        </p:txBody>
      </p:sp>
      <p:sp>
        <p:nvSpPr>
          <p:cNvPr id="20" name="Rounded Rectangle 19"/>
          <p:cNvSpPr/>
          <p:nvPr/>
        </p:nvSpPr>
        <p:spPr>
          <a:xfrm>
            <a:off x="640080" y="5669280"/>
            <a:ext cx="10927080" cy="548640"/>
          </a:xfrm>
          <a:prstGeom prst="roundRect">
            <a:avLst/>
          </a:prstGeom>
          <a:solidFill>
            <a:srgbClr val="426B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500" b="1">
                <a:solidFill>
                  <a:srgbClr val="FFFFFF"/>
                </a:solidFill>
                <a:latin typeface="Calibri"/>
              </a:defRPr>
            </a:pPr>
            <a:r>
              <a:t>And now AI agents read the documents, on Nexus AI, the framework I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56032"/>
            <a:ext cx="10972800" cy="640080"/>
          </a:xfrm>
          <a:prstGeom prst="rect">
            <a:avLst/>
          </a:prstGeom>
          <a:noFill/>
        </p:spPr>
        <p:txBody>
          <a:bodyPr wrap="square">
            <a:spAutoFit/>
          </a:bodyPr>
          <a:lstStyle/>
          <a:p>
            <a:pPr algn="l">
              <a:defRPr sz="3000" b="1" i="0">
                <a:solidFill>
                  <a:srgbClr val="001E96"/>
                </a:solidFill>
                <a:latin typeface="Calibri"/>
              </a:defRPr>
            </a:pPr>
            <a:r>
              <a:t>The AI Platform I Built</a:t>
            </a:r>
          </a:p>
        </p:txBody>
      </p:sp>
      <p:sp>
        <p:nvSpPr>
          <p:cNvPr id="3" name="TextBox 2"/>
          <p:cNvSpPr txBox="1"/>
          <p:nvPr/>
        </p:nvSpPr>
        <p:spPr>
          <a:xfrm>
            <a:off x="658368" y="896112"/>
            <a:ext cx="10972800" cy="365760"/>
          </a:xfrm>
          <a:prstGeom prst="rect">
            <a:avLst/>
          </a:prstGeom>
          <a:noFill/>
        </p:spPr>
        <p:txBody>
          <a:bodyPr wrap="square">
            <a:spAutoFit/>
          </a:bodyPr>
          <a:lstStyle/>
          <a:p>
            <a:pPr algn="l">
              <a:defRPr sz="1300" b="1" i="0">
                <a:solidFill>
                  <a:srgbClr val="426BB4"/>
                </a:solidFill>
                <a:latin typeface="Calibri"/>
              </a:defRPr>
            </a:pPr>
            <a:r>
              <a:t>SINGLE-HANDEDLY RESEARCHED, DESIGNED AND DELIVERED</a:t>
            </a:r>
          </a:p>
        </p:txBody>
      </p:sp>
      <p:sp>
        <p:nvSpPr>
          <p:cNvPr id="4" name="Rounded Rectangle 3"/>
          <p:cNvSpPr/>
          <p:nvPr/>
        </p:nvSpPr>
        <p:spPr>
          <a:xfrm>
            <a:off x="640080" y="1371600"/>
            <a:ext cx="3520440" cy="50292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500" b="1">
                <a:solidFill>
                  <a:srgbClr val="FFFFFF"/>
                </a:solidFill>
                <a:latin typeface="Calibri"/>
              </a:defRPr>
            </a:pPr>
            <a:r>
              <a:t>Nexus AI Framework</a:t>
            </a:r>
          </a:p>
        </p:txBody>
      </p:sp>
      <p:sp>
        <p:nvSpPr>
          <p:cNvPr id="5" name="TextBox 4"/>
          <p:cNvSpPr txBox="1"/>
          <p:nvPr/>
        </p:nvSpPr>
        <p:spPr>
          <a:xfrm>
            <a:off x="777240" y="1993392"/>
            <a:ext cx="3291840" cy="2240280"/>
          </a:xfrm>
          <a:prstGeom prst="rect">
            <a:avLst/>
          </a:prstGeom>
          <a:noFill/>
        </p:spPr>
        <p:txBody>
          <a:bodyPr wrap="square">
            <a:spAutoFit/>
          </a:bodyPr>
          <a:lstStyle/>
          <a:p>
            <a:pPr>
              <a:spcBef>
                <a:spcPts val="800"/>
              </a:spcBef>
              <a:defRPr sz="1300" b="0">
                <a:solidFill>
                  <a:srgbClr val="333333"/>
                </a:solidFill>
                <a:latin typeface="Calibri"/>
              </a:defRPr>
            </a:pPr>
            <a:r>
              <a:t>The unit had no AI capability. Every team started from a blank page</a:t>
            </a:r>
          </a:p>
          <a:p>
            <a:pPr>
              <a:spcBef>
                <a:spcPts val="800"/>
              </a:spcBef>
              <a:defRPr sz="1300" b="0">
                <a:solidFill>
                  <a:srgbClr val="333333"/>
                </a:solidFill>
                <a:latin typeface="Calibri"/>
              </a:defRPr>
            </a:pPr>
            <a:r>
              <a:t>Team leaned to Python. I steered us to Java and convinced management</a:t>
            </a:r>
          </a:p>
          <a:p>
            <a:pPr>
              <a:spcBef>
                <a:spcPts val="800"/>
              </a:spcBef>
              <a:defRPr sz="1300" b="0">
                <a:solidFill>
                  <a:srgbClr val="333333"/>
                </a:solidFill>
                <a:latin typeface="Calibri"/>
              </a:defRPr>
            </a:pPr>
            <a:r>
              <a:t>Any team now builds a working agent in about an hour</a:t>
            </a:r>
          </a:p>
        </p:txBody>
      </p:sp>
      <p:sp>
        <p:nvSpPr>
          <p:cNvPr id="6" name="Rounded Rectangle 5"/>
          <p:cNvSpPr/>
          <p:nvPr/>
        </p:nvSpPr>
        <p:spPr>
          <a:xfrm>
            <a:off x="4343400" y="1371600"/>
            <a:ext cx="3520440" cy="50292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500" b="1">
                <a:solidFill>
                  <a:srgbClr val="FFFFFF"/>
                </a:solidFill>
                <a:latin typeface="Calibri"/>
              </a:defRPr>
            </a:pPr>
            <a:r>
              <a:t>Nexus AI Studio</a:t>
            </a:r>
          </a:p>
        </p:txBody>
      </p:sp>
      <p:sp>
        <p:nvSpPr>
          <p:cNvPr id="7" name="TextBox 6"/>
          <p:cNvSpPr txBox="1"/>
          <p:nvPr/>
        </p:nvSpPr>
        <p:spPr>
          <a:xfrm>
            <a:off x="4480560" y="1993392"/>
            <a:ext cx="3291840" cy="2240280"/>
          </a:xfrm>
          <a:prstGeom prst="rect">
            <a:avLst/>
          </a:prstGeom>
          <a:noFill/>
        </p:spPr>
        <p:txBody>
          <a:bodyPr wrap="square">
            <a:spAutoFit/>
          </a:bodyPr>
          <a:lstStyle/>
          <a:p>
            <a:pPr>
              <a:spcBef>
                <a:spcPts val="800"/>
              </a:spcBef>
              <a:defRPr sz="1300" b="0">
                <a:solidFill>
                  <a:srgbClr val="333333"/>
                </a:solidFill>
                <a:latin typeface="Calibri"/>
              </a:defRPr>
            </a:pPr>
            <a:r>
              <a:t>A real-time picture of every workflow, that lights up as it runs</a:t>
            </a:r>
          </a:p>
          <a:p>
            <a:pPr>
              <a:spcBef>
                <a:spcPts val="800"/>
              </a:spcBef>
              <a:defRPr sz="1300" b="0">
                <a:solidFill>
                  <a:srgbClr val="333333"/>
                </a:solidFill>
                <a:latin typeface="Calibri"/>
              </a:defRPr>
            </a:pPr>
            <a:r>
              <a:t>Full prompt management. Version, compare side by side, test and publish the AI instructions, with no software release</a:t>
            </a:r>
          </a:p>
          <a:p>
            <a:pPr>
              <a:spcBef>
                <a:spcPts val="800"/>
              </a:spcBef>
              <a:defRPr sz="1300" b="0">
                <a:solidFill>
                  <a:srgbClr val="333333"/>
                </a:solidFill>
                <a:latin typeface="Calibri"/>
              </a:defRPr>
            </a:pPr>
            <a:r>
              <a:t>One dependency and one setting. Nothing for a team to build</a:t>
            </a:r>
          </a:p>
        </p:txBody>
      </p:sp>
      <p:sp>
        <p:nvSpPr>
          <p:cNvPr id="8" name="Rounded Rectangle 7"/>
          <p:cNvSpPr/>
          <p:nvPr/>
        </p:nvSpPr>
        <p:spPr>
          <a:xfrm>
            <a:off x="8046720" y="1371600"/>
            <a:ext cx="3520440" cy="50292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500" b="1">
                <a:solidFill>
                  <a:srgbClr val="FFFFFF"/>
                </a:solidFill>
                <a:latin typeface="Calibri"/>
              </a:defRPr>
            </a:pPr>
            <a:r>
              <a:t>PromptLint Quality Gate</a:t>
            </a:r>
          </a:p>
        </p:txBody>
      </p:sp>
      <p:sp>
        <p:nvSpPr>
          <p:cNvPr id="9" name="TextBox 8"/>
          <p:cNvSpPr txBox="1"/>
          <p:nvPr/>
        </p:nvSpPr>
        <p:spPr>
          <a:xfrm>
            <a:off x="8183879" y="1993392"/>
            <a:ext cx="3291840" cy="2240280"/>
          </a:xfrm>
          <a:prstGeom prst="rect">
            <a:avLst/>
          </a:prstGeom>
          <a:noFill/>
        </p:spPr>
        <p:txBody>
          <a:bodyPr wrap="square">
            <a:spAutoFit/>
          </a:bodyPr>
          <a:lstStyle/>
          <a:p>
            <a:pPr>
              <a:spcBef>
                <a:spcPts val="800"/>
              </a:spcBef>
              <a:defRPr sz="1300" b="0">
                <a:solidFill>
                  <a:srgbClr val="333333"/>
                </a:solidFill>
                <a:latin typeface="Calibri"/>
              </a:defRPr>
            </a:pPr>
            <a:r>
              <a:t>Catches badly written AI instructions before they reach the model</a:t>
            </a:r>
          </a:p>
          <a:p>
            <a:pPr>
              <a:spcBef>
                <a:spcPts val="800"/>
              </a:spcBef>
              <a:defRPr sz="1300" b="0">
                <a:solidFill>
                  <a:srgbClr val="333333"/>
                </a:solidFill>
                <a:latin typeface="Calibri"/>
              </a:defRPr>
            </a:pPr>
            <a:r>
              <a:t>Like a spell checker for what we tell the AI to do</a:t>
            </a:r>
          </a:p>
          <a:p>
            <a:pPr>
              <a:spcBef>
                <a:spcPts val="800"/>
              </a:spcBef>
              <a:defRPr sz="1300" b="0">
                <a:solidFill>
                  <a:srgbClr val="333333"/>
                </a:solidFill>
                <a:latin typeface="Calibri"/>
              </a:defRPr>
            </a:pPr>
            <a:r>
              <a:t>Runs on every build, and costs nothing to run</a:t>
            </a:r>
          </a:p>
        </p:txBody>
      </p:sp>
      <p:sp>
        <p:nvSpPr>
          <p:cNvPr id="10" name="Rounded Rectangle 9"/>
          <p:cNvSpPr/>
          <p:nvPr/>
        </p:nvSpPr>
        <p:spPr>
          <a:xfrm>
            <a:off x="640080" y="4434840"/>
            <a:ext cx="3520440" cy="109728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300" b="1">
                <a:solidFill>
                  <a:srgbClr val="FFFFFF"/>
                </a:solidFill>
                <a:latin typeface="Calibri"/>
              </a:defRPr>
            </a:pPr>
            <a:r>
              <a:t>A day  ➔  An hour</a:t>
            </a:r>
          </a:p>
          <a:p>
            <a:pPr algn="ctr">
              <a:defRPr sz="1300">
                <a:solidFill>
                  <a:srgbClr val="CCCCFF"/>
                </a:solidFill>
                <a:latin typeface="Calibri"/>
              </a:defRPr>
            </a:pPr>
            <a:r>
              <a:t>Time to build an agent</a:t>
            </a:r>
          </a:p>
        </p:txBody>
      </p:sp>
      <p:sp>
        <p:nvSpPr>
          <p:cNvPr id="11" name="Rounded Rectangle 10"/>
          <p:cNvSpPr/>
          <p:nvPr/>
        </p:nvSpPr>
        <p:spPr>
          <a:xfrm>
            <a:off x="4343400" y="4434840"/>
            <a:ext cx="3520440" cy="109728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300" b="1">
                <a:solidFill>
                  <a:srgbClr val="FFFFFF"/>
                </a:solidFill>
                <a:latin typeface="Calibri"/>
              </a:defRPr>
            </a:pPr>
            <a:r>
              <a:t>Presented at RCP level</a:t>
            </a:r>
          </a:p>
          <a:p>
            <a:pPr algn="ctr">
              <a:defRPr sz="1300">
                <a:solidFill>
                  <a:srgbClr val="CCCCFF"/>
                </a:solidFill>
                <a:latin typeface="Calibri"/>
              </a:defRPr>
            </a:pPr>
            <a:r>
              <a:t>140 attended my session. Recorded, and still used</a:t>
            </a:r>
          </a:p>
        </p:txBody>
      </p:sp>
      <p:sp>
        <p:nvSpPr>
          <p:cNvPr id="12" name="Rounded Rectangle 11"/>
          <p:cNvSpPr/>
          <p:nvPr/>
        </p:nvSpPr>
        <p:spPr>
          <a:xfrm>
            <a:off x="8046720" y="4434840"/>
            <a:ext cx="3520440" cy="109728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300" b="1">
                <a:solidFill>
                  <a:srgbClr val="FFFFFF"/>
                </a:solidFill>
                <a:latin typeface="Calibri"/>
              </a:defRPr>
            </a:pPr>
            <a:r>
              <a:t>Two workflows in production</a:t>
            </a:r>
          </a:p>
          <a:p>
            <a:pPr algn="ctr">
              <a:defRPr sz="1300">
                <a:solidFill>
                  <a:srgbClr val="CCCCFF"/>
                </a:solidFill>
                <a:latin typeface="Calibri"/>
              </a:defRPr>
            </a:pPr>
            <a:r>
              <a:t>Both running on this framework</a:t>
            </a:r>
          </a:p>
        </p:txBody>
      </p:sp>
      <p:sp>
        <p:nvSpPr>
          <p:cNvPr id="13" name="TextBox 12"/>
          <p:cNvSpPr txBox="1"/>
          <p:nvPr/>
        </p:nvSpPr>
        <p:spPr>
          <a:xfrm>
            <a:off x="640080" y="5760720"/>
            <a:ext cx="10927080" cy="731520"/>
          </a:xfrm>
          <a:prstGeom prst="rect">
            <a:avLst/>
          </a:prstGeom>
          <a:noFill/>
        </p:spPr>
        <p:txBody>
          <a:bodyPr wrap="square">
            <a:spAutoFit/>
          </a:bodyPr>
          <a:lstStyle/>
          <a:p>
            <a:pPr algn="l">
              <a:defRPr sz="1500" b="0" i="1">
                <a:solidFill>
                  <a:srgbClr val="426BB4"/>
                </a:solidFill>
                <a:latin typeface="Calibri"/>
              </a:defRPr>
            </a:pPr>
            <a:r>
              <a:t>Multiple teams across RCP now build on this framework. But a platform nobody uses is worth nothing, so I went and used it too. The next two slides are what came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56032"/>
            <a:ext cx="10972800" cy="640080"/>
          </a:xfrm>
          <a:prstGeom prst="rect">
            <a:avLst/>
          </a:prstGeom>
          <a:noFill/>
        </p:spPr>
        <p:txBody>
          <a:bodyPr wrap="square">
            <a:spAutoFit/>
          </a:bodyPr>
          <a:lstStyle/>
          <a:p>
            <a:pPr algn="l">
              <a:defRPr sz="3000" b="1" i="0">
                <a:solidFill>
                  <a:srgbClr val="001E96"/>
                </a:solidFill>
                <a:latin typeface="Calibri"/>
              </a:defRPr>
            </a:pPr>
            <a:r>
              <a:t>Finding the Senior Managers Who Run a Client</a:t>
            </a:r>
          </a:p>
        </p:txBody>
      </p:sp>
      <p:sp>
        <p:nvSpPr>
          <p:cNvPr id="3" name="TextBox 2"/>
          <p:cNvSpPr txBox="1"/>
          <p:nvPr/>
        </p:nvSpPr>
        <p:spPr>
          <a:xfrm>
            <a:off x="658368" y="896112"/>
            <a:ext cx="10972800" cy="365760"/>
          </a:xfrm>
          <a:prstGeom prst="rect">
            <a:avLst/>
          </a:prstGeom>
          <a:noFill/>
        </p:spPr>
        <p:txBody>
          <a:bodyPr wrap="square">
            <a:spAutoFit/>
          </a:bodyPr>
          <a:lstStyle/>
          <a:p>
            <a:pPr algn="l">
              <a:defRPr sz="1300" b="1" i="0">
                <a:solidFill>
                  <a:srgbClr val="426BB4"/>
                </a:solidFill>
                <a:latin typeface="Calibri"/>
              </a:defRPr>
            </a:pPr>
            <a:r>
              <a:t>FIRST AI WORKFLOW IN PRODUCTION. I DESIGNED IT AND WROTE EVERY PROMPT.  |  ON MY PLATFORM</a:t>
            </a:r>
          </a:p>
        </p:txBody>
      </p:sp>
      <p:sp>
        <p:nvSpPr>
          <p:cNvPr id="4" name="Rounded Rectangle 3"/>
          <p:cNvSpPr/>
          <p:nvPr/>
        </p:nvSpPr>
        <p:spPr>
          <a:xfrm>
            <a:off x="640080" y="1280160"/>
            <a:ext cx="5349240" cy="548640"/>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600" b="1">
                <a:solidFill>
                  <a:srgbClr val="FFFFFF"/>
                </a:solidFill>
                <a:latin typeface="Calibri"/>
              </a:defRPr>
            </a:pPr>
            <a:r>
              <a:t>BEFORE</a:t>
            </a:r>
          </a:p>
        </p:txBody>
      </p:sp>
      <p:sp>
        <p:nvSpPr>
          <p:cNvPr id="5" name="TextBox 4"/>
          <p:cNvSpPr txBox="1"/>
          <p:nvPr/>
        </p:nvSpPr>
        <p:spPr>
          <a:xfrm>
            <a:off x="822960" y="1965960"/>
            <a:ext cx="5029200" cy="1600200"/>
          </a:xfrm>
          <a:prstGeom prst="rect">
            <a:avLst/>
          </a:prstGeom>
          <a:noFill/>
        </p:spPr>
        <p:txBody>
          <a:bodyPr wrap="square">
            <a:spAutoFit/>
          </a:bodyPr>
          <a:lstStyle/>
          <a:p>
            <a:pPr>
              <a:spcBef>
                <a:spcPts val="800"/>
              </a:spcBef>
              <a:defRPr sz="1500" b="0">
                <a:solidFill>
                  <a:srgbClr val="333333"/>
                </a:solidFill>
                <a:latin typeface="Calibri"/>
              </a:defRPr>
            </a:pPr>
            <a:r>
              <a:t>Analysts read every document by hand, one at a time, to find who runs a client</a:t>
            </a:r>
          </a:p>
          <a:p>
            <a:pPr>
              <a:spcBef>
                <a:spcPts val="800"/>
              </a:spcBef>
              <a:defRPr sz="1500" b="0">
                <a:solidFill>
                  <a:srgbClr val="333333"/>
                </a:solidFill>
                <a:latin typeface="Calibri"/>
              </a:defRPr>
            </a:pPr>
            <a:r>
              <a:t>Each name checked across several systems, duplicates and country rules sorted out by hand</a:t>
            </a:r>
          </a:p>
          <a:p>
            <a:pPr>
              <a:spcBef>
                <a:spcPts val="800"/>
              </a:spcBef>
              <a:defRPr sz="1500" b="0">
                <a:solidFill>
                  <a:srgbClr val="333333"/>
                </a:solidFill>
                <a:latin typeface="Calibri"/>
              </a:defRPr>
            </a:pPr>
            <a:r>
              <a:t>Cases passed back and forth between preparer and reviewer, and records updated by hand</a:t>
            </a:r>
          </a:p>
        </p:txBody>
      </p:sp>
      <p:sp>
        <p:nvSpPr>
          <p:cNvPr id="6" name="Rounded Rectangle 5"/>
          <p:cNvSpPr/>
          <p:nvPr/>
        </p:nvSpPr>
        <p:spPr>
          <a:xfrm>
            <a:off x="6309360" y="1280160"/>
            <a:ext cx="5257800" cy="5486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600" b="1">
                <a:solidFill>
                  <a:srgbClr val="FFFFFF"/>
                </a:solidFill>
                <a:latin typeface="Calibri"/>
              </a:defRPr>
            </a:pPr>
            <a:r>
              <a:t>AFTER</a:t>
            </a:r>
          </a:p>
        </p:txBody>
      </p:sp>
      <p:sp>
        <p:nvSpPr>
          <p:cNvPr id="7" name="TextBox 6"/>
          <p:cNvSpPr txBox="1"/>
          <p:nvPr/>
        </p:nvSpPr>
        <p:spPr>
          <a:xfrm>
            <a:off x="6492240" y="1965960"/>
            <a:ext cx="4937760" cy="1600200"/>
          </a:xfrm>
          <a:prstGeom prst="rect">
            <a:avLst/>
          </a:prstGeom>
          <a:noFill/>
        </p:spPr>
        <p:txBody>
          <a:bodyPr wrap="square">
            <a:spAutoFit/>
          </a:bodyPr>
          <a:lstStyle/>
          <a:p>
            <a:pPr>
              <a:spcBef>
                <a:spcPts val="800"/>
              </a:spcBef>
              <a:defRPr sz="1500" b="0">
                <a:solidFill>
                  <a:srgbClr val="333333"/>
                </a:solidFill>
                <a:latin typeface="Calibri"/>
              </a:defRPr>
            </a:pPr>
            <a:r>
              <a:t>A team of ten AI agents, reading every document in parallel</a:t>
            </a:r>
          </a:p>
          <a:p>
            <a:pPr>
              <a:spcBef>
                <a:spcPts val="800"/>
              </a:spcBef>
              <a:defRPr sz="1500" b="0">
                <a:solidFill>
                  <a:srgbClr val="333333"/>
                </a:solidFill>
                <a:latin typeface="Calibri"/>
              </a:defRPr>
            </a:pPr>
            <a:r>
              <a:t>They find the senior managers, merge duplicates and apply country-specific rules</a:t>
            </a:r>
          </a:p>
          <a:p>
            <a:pPr>
              <a:spcBef>
                <a:spcPts val="800"/>
              </a:spcBef>
              <a:defRPr sz="1500" b="0">
                <a:solidFill>
                  <a:srgbClr val="333333"/>
                </a:solidFill>
                <a:latin typeface="Calibri"/>
              </a:defRPr>
            </a:pPr>
            <a:r>
              <a:t>Checker agents review every step, then results are matched to the client's existing records</a:t>
            </a:r>
          </a:p>
        </p:txBody>
      </p:sp>
      <p:sp>
        <p:nvSpPr>
          <p:cNvPr id="8" name="Rounded Rectangle 7"/>
          <p:cNvSpPr/>
          <p:nvPr/>
        </p:nvSpPr>
        <p:spPr>
          <a:xfrm>
            <a:off x="640080" y="3703320"/>
            <a:ext cx="35204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300" b="1">
                <a:solidFill>
                  <a:srgbClr val="FFFFFF"/>
                </a:solidFill>
                <a:latin typeface="Calibri"/>
              </a:defRPr>
            </a:pPr>
            <a:r>
              <a:t>77 min  ➔  Under 10</a:t>
            </a:r>
          </a:p>
          <a:p>
            <a:pPr algn="ctr">
              <a:defRPr sz="1300">
                <a:solidFill>
                  <a:srgbClr val="CCCCFF"/>
                </a:solidFill>
                <a:latin typeface="Calibri"/>
              </a:defRPr>
            </a:pPr>
            <a:r>
              <a:t>More than seven times faster</a:t>
            </a:r>
          </a:p>
        </p:txBody>
      </p:sp>
      <p:sp>
        <p:nvSpPr>
          <p:cNvPr id="9" name="Rounded Rectangle 8"/>
          <p:cNvSpPr/>
          <p:nvPr/>
        </p:nvSpPr>
        <p:spPr>
          <a:xfrm>
            <a:off x="4343400" y="3703320"/>
            <a:ext cx="35204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FFFFFF"/>
                </a:solidFill>
                <a:latin typeface="Calibri"/>
              </a:defRPr>
            </a:pPr>
            <a:r>
              <a:t>Over 99.5%</a:t>
            </a:r>
          </a:p>
          <a:p>
            <a:pPr algn="ctr">
              <a:defRPr sz="1300">
                <a:solidFill>
                  <a:srgbClr val="CCCCFF"/>
                </a:solidFill>
                <a:latin typeface="Calibri"/>
              </a:defRPr>
            </a:pPr>
            <a:r>
              <a:t>Right first time</a:t>
            </a:r>
          </a:p>
        </p:txBody>
      </p:sp>
      <p:sp>
        <p:nvSpPr>
          <p:cNvPr id="10" name="Rounded Rectangle 9"/>
          <p:cNvSpPr/>
          <p:nvPr/>
        </p:nvSpPr>
        <p:spPr>
          <a:xfrm>
            <a:off x="8046720" y="3703320"/>
            <a:ext cx="35204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FFFFFF"/>
                </a:solidFill>
                <a:latin typeface="Calibri"/>
              </a:defRPr>
            </a:pPr>
            <a:r>
              <a:t>57% cheaper</a:t>
            </a:r>
          </a:p>
          <a:p>
            <a:pPr algn="ctr">
              <a:defRPr sz="1300">
                <a:solidFill>
                  <a:srgbClr val="CCCCFF"/>
                </a:solidFill>
                <a:latin typeface="Calibri"/>
              </a:defRPr>
            </a:pPr>
            <a:r>
              <a:t>€19.87 to €8.51 per case</a:t>
            </a:r>
          </a:p>
        </p:txBody>
      </p:sp>
      <p:sp>
        <p:nvSpPr>
          <p:cNvPr id="11" name="Rounded Rectangle 10"/>
          <p:cNvSpPr/>
          <p:nvPr/>
        </p:nvSpPr>
        <p:spPr>
          <a:xfrm>
            <a:off x="640080" y="4983480"/>
            <a:ext cx="10927080" cy="1554480"/>
          </a:xfrm>
          <a:prstGeom prst="roundRect">
            <a:avLst/>
          </a:prstGeom>
          <a:solidFill>
            <a:srgbClr val="E8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47488"/>
            <a:ext cx="10515600" cy="265176"/>
          </a:xfrm>
          <a:prstGeom prst="rect">
            <a:avLst/>
          </a:prstGeom>
          <a:noFill/>
        </p:spPr>
        <p:txBody>
          <a:bodyPr wrap="square">
            <a:spAutoFit/>
          </a:bodyPr>
          <a:lstStyle/>
          <a:p>
            <a:pPr algn="l">
              <a:defRPr sz="1250" b="1" i="0">
                <a:solidFill>
                  <a:srgbClr val="001E96"/>
                </a:solidFill>
                <a:latin typeface="Calibri"/>
              </a:defRPr>
            </a:pPr>
            <a:r>
              <a:t>Demonstrated to the national media at the bank's Bank on Tech showcase in Bengaluru, India, June 2026. Covered in the national press.</a:t>
            </a:r>
          </a:p>
        </p:txBody>
      </p:sp>
      <p:sp>
        <p:nvSpPr>
          <p:cNvPr id="13" name="TextBox 12"/>
          <p:cNvSpPr txBox="1"/>
          <p:nvPr/>
        </p:nvSpPr>
        <p:spPr>
          <a:xfrm>
            <a:off x="868680" y="5330952"/>
            <a:ext cx="10515600" cy="265176"/>
          </a:xfrm>
          <a:prstGeom prst="rect">
            <a:avLst/>
          </a:prstGeom>
          <a:noFill/>
        </p:spPr>
        <p:txBody>
          <a:bodyPr wrap="square">
            <a:spAutoFit/>
          </a:bodyPr>
          <a:lstStyle/>
          <a:p>
            <a:pPr algn="l">
              <a:defRPr sz="1250" b="1" i="0">
                <a:solidFill>
                  <a:srgbClr val="001E96"/>
                </a:solidFill>
                <a:latin typeface="Calibri"/>
              </a:defRPr>
            </a:pPr>
            <a:r>
              <a:t>Published bank-wide on the internal network, August 2026.</a:t>
            </a:r>
          </a:p>
        </p:txBody>
      </p:sp>
      <p:sp>
        <p:nvSpPr>
          <p:cNvPr id="14" name="TextBox 13"/>
          <p:cNvSpPr txBox="1"/>
          <p:nvPr/>
        </p:nvSpPr>
        <p:spPr>
          <a:xfrm>
            <a:off x="868680" y="5614416"/>
            <a:ext cx="10515600" cy="512064"/>
          </a:xfrm>
          <a:prstGeom prst="rect">
            <a:avLst/>
          </a:prstGeom>
          <a:noFill/>
        </p:spPr>
        <p:txBody>
          <a:bodyPr wrap="square">
            <a:spAutoFit/>
          </a:bodyPr>
          <a:lstStyle/>
          <a:p>
            <a:pPr algn="l">
              <a:defRPr sz="1400" b="0" i="1">
                <a:solidFill>
                  <a:srgbClr val="333333"/>
                </a:solidFill>
                <a:latin typeface="Calibri"/>
              </a:defRPr>
            </a:pPr>
            <a:r>
              <a:t>“This is the first production step towards an AI-augmented, end to end process that is faster, more accurate and more scalable, while preserving clear human accountability for every risk decision.”</a:t>
            </a:r>
          </a:p>
        </p:txBody>
      </p:sp>
      <p:sp>
        <p:nvSpPr>
          <p:cNvPr id="15" name="TextBox 14"/>
          <p:cNvSpPr txBox="1"/>
          <p:nvPr/>
        </p:nvSpPr>
        <p:spPr>
          <a:xfrm>
            <a:off x="868680" y="6144768"/>
            <a:ext cx="10515600" cy="301752"/>
          </a:xfrm>
          <a:prstGeom prst="rect">
            <a:avLst/>
          </a:prstGeom>
          <a:noFill/>
        </p:spPr>
        <p:txBody>
          <a:bodyPr wrap="square">
            <a:spAutoFit/>
          </a:bodyPr>
          <a:lstStyle/>
          <a:p>
            <a:pPr algn="l">
              <a:defRPr sz="1300" b="1" i="0">
                <a:solidFill>
                  <a:srgbClr val="001E96"/>
                </a:solidFill>
                <a:latin typeface="Calibri"/>
              </a:defRPr>
            </a:pPr>
            <a:r>
              <a:t>Ross Mackenzie, Co-Head of Operations and Controls, Corporate Bank and Investment Bank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56032"/>
            <a:ext cx="10972800" cy="640080"/>
          </a:xfrm>
          <a:prstGeom prst="rect">
            <a:avLst/>
          </a:prstGeom>
          <a:noFill/>
        </p:spPr>
        <p:txBody>
          <a:bodyPr wrap="square">
            <a:spAutoFit/>
          </a:bodyPr>
          <a:lstStyle/>
          <a:p>
            <a:pPr algn="l">
              <a:defRPr sz="3000" b="1" i="0">
                <a:solidFill>
                  <a:srgbClr val="001E96"/>
                </a:solidFill>
                <a:latin typeface="Calibri"/>
              </a:defRPr>
            </a:pPr>
            <a:r>
              <a:t>Finding Who Really Owns and Controls a Client</a:t>
            </a:r>
          </a:p>
        </p:txBody>
      </p:sp>
      <p:sp>
        <p:nvSpPr>
          <p:cNvPr id="3" name="TextBox 2"/>
          <p:cNvSpPr txBox="1"/>
          <p:nvPr/>
        </p:nvSpPr>
        <p:spPr>
          <a:xfrm>
            <a:off x="658368" y="896112"/>
            <a:ext cx="10972800" cy="365760"/>
          </a:xfrm>
          <a:prstGeom prst="rect">
            <a:avLst/>
          </a:prstGeom>
          <a:noFill/>
        </p:spPr>
        <p:txBody>
          <a:bodyPr wrap="square">
            <a:spAutoFit/>
          </a:bodyPr>
          <a:lstStyle/>
          <a:p>
            <a:pPr algn="l">
              <a:defRPr sz="1300" b="1" i="0">
                <a:solidFill>
                  <a:srgbClr val="426BB4"/>
                </a:solidFill>
                <a:latin typeface="Calibri"/>
              </a:defRPr>
            </a:pPr>
            <a:r>
              <a:t>SECOND AI WORKFLOW IN PRODUCTION. I OWN IT END TO END.  |  ON MY PLATFORM  |  ABOUT 400 USERS</a:t>
            </a:r>
          </a:p>
        </p:txBody>
      </p:sp>
      <p:sp>
        <p:nvSpPr>
          <p:cNvPr id="4" name="Rounded Rectangle 3"/>
          <p:cNvSpPr/>
          <p:nvPr/>
        </p:nvSpPr>
        <p:spPr>
          <a:xfrm>
            <a:off x="640080" y="1280160"/>
            <a:ext cx="5349240" cy="548640"/>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600" b="1">
                <a:solidFill>
                  <a:srgbClr val="FFFFFF"/>
                </a:solidFill>
                <a:latin typeface="Calibri"/>
              </a:defRPr>
            </a:pPr>
            <a:r>
              <a:t>BEFORE</a:t>
            </a:r>
          </a:p>
        </p:txBody>
      </p:sp>
      <p:sp>
        <p:nvSpPr>
          <p:cNvPr id="5" name="TextBox 4"/>
          <p:cNvSpPr txBox="1"/>
          <p:nvPr/>
        </p:nvSpPr>
        <p:spPr>
          <a:xfrm>
            <a:off x="822960" y="1965960"/>
            <a:ext cx="5029200" cy="1600200"/>
          </a:xfrm>
          <a:prstGeom prst="rect">
            <a:avLst/>
          </a:prstGeom>
          <a:noFill/>
        </p:spPr>
        <p:txBody>
          <a:bodyPr wrap="square">
            <a:spAutoFit/>
          </a:bodyPr>
          <a:lstStyle/>
          <a:p>
            <a:pPr>
              <a:spcBef>
                <a:spcPts val="800"/>
              </a:spcBef>
              <a:defRPr sz="1500" b="0">
                <a:solidFill>
                  <a:srgbClr val="333333"/>
                </a:solidFill>
                <a:latin typeface="Calibri"/>
              </a:defRPr>
            </a:pPr>
            <a:r>
              <a:t>An analyst reads documents in several languages and traces ownership by hand, layer by layer</a:t>
            </a:r>
          </a:p>
          <a:p>
            <a:pPr>
              <a:spcBef>
                <a:spcPts val="800"/>
              </a:spcBef>
              <a:defRPr sz="1500" b="0">
                <a:solidFill>
                  <a:srgbClr val="333333"/>
                </a:solidFill>
                <a:latin typeface="Calibri"/>
              </a:defRPr>
            </a:pPr>
            <a:r>
              <a:t>Percentages worked out by hand, against group policy and each country's own rules</a:t>
            </a:r>
          </a:p>
          <a:p>
            <a:pPr>
              <a:spcBef>
                <a:spcPts val="800"/>
              </a:spcBef>
              <a:defRPr sz="1500" b="0">
                <a:solidFill>
                  <a:srgbClr val="333333"/>
                </a:solidFill>
                <a:latin typeface="Calibri"/>
              </a:defRPr>
            </a:pPr>
            <a:r>
              <a:t>Conflicting documents and missing evidence, and a wrong owner is a regulatory problem</a:t>
            </a:r>
          </a:p>
        </p:txBody>
      </p:sp>
      <p:sp>
        <p:nvSpPr>
          <p:cNvPr id="6" name="Rounded Rectangle 5"/>
          <p:cNvSpPr/>
          <p:nvPr/>
        </p:nvSpPr>
        <p:spPr>
          <a:xfrm>
            <a:off x="6309360" y="1280160"/>
            <a:ext cx="5257800" cy="5486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600" b="1">
                <a:solidFill>
                  <a:srgbClr val="FFFFFF"/>
                </a:solidFill>
                <a:latin typeface="Calibri"/>
              </a:defRPr>
            </a:pPr>
            <a:r>
              <a:t>AFTER</a:t>
            </a:r>
          </a:p>
        </p:txBody>
      </p:sp>
      <p:sp>
        <p:nvSpPr>
          <p:cNvPr id="7" name="TextBox 6"/>
          <p:cNvSpPr txBox="1"/>
          <p:nvPr/>
        </p:nvSpPr>
        <p:spPr>
          <a:xfrm>
            <a:off x="6492240" y="1965960"/>
            <a:ext cx="4937760" cy="1600200"/>
          </a:xfrm>
          <a:prstGeom prst="rect">
            <a:avLst/>
          </a:prstGeom>
          <a:noFill/>
        </p:spPr>
        <p:txBody>
          <a:bodyPr wrap="square">
            <a:spAutoFit/>
          </a:bodyPr>
          <a:lstStyle/>
          <a:p>
            <a:pPr>
              <a:spcBef>
                <a:spcPts val="800"/>
              </a:spcBef>
              <a:defRPr sz="1500" b="0">
                <a:solidFill>
                  <a:srgbClr val="333333"/>
                </a:solidFill>
                <a:latin typeface="Calibri"/>
              </a:defRPr>
            </a:pPr>
            <a:r>
              <a:t>AI reads every document, in any language, and maps the ownership chart layer by layer</a:t>
            </a:r>
          </a:p>
          <a:p>
            <a:pPr>
              <a:spcBef>
                <a:spcPts val="800"/>
              </a:spcBef>
              <a:defRPr sz="1500" b="0">
                <a:solidFill>
                  <a:srgbClr val="333333"/>
                </a:solidFill>
                <a:latin typeface="Calibri"/>
              </a:defRPr>
            </a:pPr>
            <a:r>
              <a:t>Works out the percentages and identifies the ultimate owners under each country's rules</a:t>
            </a:r>
          </a:p>
          <a:p>
            <a:pPr>
              <a:spcBef>
                <a:spcPts val="800"/>
              </a:spcBef>
              <a:defRPr sz="1500" b="0">
                <a:solidFill>
                  <a:srgbClr val="333333"/>
                </a:solidFill>
                <a:latin typeface="Calibri"/>
              </a:defRPr>
            </a:pPr>
            <a:r>
              <a:t>Conflicts and gaps flagged, never guessed. Every claim quoted from a document</a:t>
            </a:r>
          </a:p>
        </p:txBody>
      </p:sp>
      <p:sp>
        <p:nvSpPr>
          <p:cNvPr id="8" name="Rounded Rectangle 7"/>
          <p:cNvSpPr/>
          <p:nvPr/>
        </p:nvSpPr>
        <p:spPr>
          <a:xfrm>
            <a:off x="640080" y="3703320"/>
            <a:ext cx="35204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300" b="1">
                <a:solidFill>
                  <a:srgbClr val="FFFFFF"/>
                </a:solidFill>
                <a:latin typeface="Calibri"/>
              </a:defRPr>
            </a:pPr>
            <a:r>
              <a:t>198 min  ➔  5 to 15</a:t>
            </a:r>
          </a:p>
          <a:p>
            <a:pPr algn="ctr">
              <a:defRPr sz="1300">
                <a:solidFill>
                  <a:srgbClr val="CCCCFF"/>
                </a:solidFill>
                <a:latin typeface="Calibri"/>
              </a:defRPr>
            </a:pPr>
            <a:r>
              <a:t>Analyst time per case, at least 13 times faster</a:t>
            </a:r>
          </a:p>
        </p:txBody>
      </p:sp>
      <p:sp>
        <p:nvSpPr>
          <p:cNvPr id="9" name="Rounded Rectangle 8"/>
          <p:cNvSpPr/>
          <p:nvPr/>
        </p:nvSpPr>
        <p:spPr>
          <a:xfrm>
            <a:off x="4343400" y="3703320"/>
            <a:ext cx="35204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FFFF"/>
                </a:solidFill>
                <a:latin typeface="Calibri"/>
              </a:defRPr>
            </a:pPr>
            <a:r>
              <a:t>71 people's work</a:t>
            </a:r>
          </a:p>
          <a:p>
            <a:pPr algn="ctr">
              <a:defRPr sz="1300">
                <a:solidFill>
                  <a:srgbClr val="CCCCFF"/>
                </a:solidFill>
                <a:latin typeface="Calibri"/>
              </a:defRPr>
            </a:pPr>
            <a:r>
              <a:t>Estimated analyst time freed each year</a:t>
            </a:r>
          </a:p>
        </p:txBody>
      </p:sp>
      <p:sp>
        <p:nvSpPr>
          <p:cNvPr id="10" name="Rounded Rectangle 9"/>
          <p:cNvSpPr/>
          <p:nvPr/>
        </p:nvSpPr>
        <p:spPr>
          <a:xfrm>
            <a:off x="8046720" y="3703320"/>
            <a:ext cx="35204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FFFFFF"/>
                </a:solidFill>
                <a:latin typeface="Calibri"/>
              </a:defRPr>
            </a:pPr>
            <a:r>
              <a:t>About 90%</a:t>
            </a:r>
          </a:p>
          <a:p>
            <a:pPr algn="ctr">
              <a:defRPr sz="1300">
                <a:solidFill>
                  <a:srgbClr val="CCCCFF"/>
                </a:solidFill>
                <a:latin typeface="Calibri"/>
              </a:defRPr>
            </a:pPr>
            <a:r>
              <a:t>Of the clients the bank checks, covered today</a:t>
            </a:r>
          </a:p>
        </p:txBody>
      </p:sp>
      <p:sp>
        <p:nvSpPr>
          <p:cNvPr id="11" name="Rounded Rectangle 10"/>
          <p:cNvSpPr/>
          <p:nvPr/>
        </p:nvSpPr>
        <p:spPr>
          <a:xfrm>
            <a:off x="640080" y="4983480"/>
            <a:ext cx="10927080" cy="1188720"/>
          </a:xfrm>
          <a:prstGeom prst="roundRect">
            <a:avLst/>
          </a:prstGeom>
          <a:solidFill>
            <a:srgbClr val="E8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84064"/>
            <a:ext cx="10515600" cy="310896"/>
          </a:xfrm>
          <a:prstGeom prst="rect">
            <a:avLst/>
          </a:prstGeom>
          <a:noFill/>
        </p:spPr>
        <p:txBody>
          <a:bodyPr wrap="square">
            <a:spAutoFit/>
          </a:bodyPr>
          <a:lstStyle/>
          <a:p>
            <a:pPr algn="l">
              <a:defRPr sz="1500" b="1" i="0">
                <a:solidFill>
                  <a:srgbClr val="001E96"/>
                </a:solidFill>
                <a:latin typeface="Calibri"/>
              </a:defRPr>
            </a:pPr>
            <a:r>
              <a:t>Why it matters to the bank</a:t>
            </a:r>
          </a:p>
        </p:txBody>
      </p:sp>
      <p:sp>
        <p:nvSpPr>
          <p:cNvPr id="13" name="TextBox 12"/>
          <p:cNvSpPr txBox="1"/>
          <p:nvPr/>
        </p:nvSpPr>
        <p:spPr>
          <a:xfrm>
            <a:off x="868680" y="5413248"/>
            <a:ext cx="10515600" cy="658368"/>
          </a:xfrm>
          <a:prstGeom prst="rect">
            <a:avLst/>
          </a:prstGeom>
          <a:noFill/>
        </p:spPr>
        <p:txBody>
          <a:bodyPr wrap="square">
            <a:spAutoFit/>
          </a:bodyPr>
          <a:lstStyle/>
          <a:p>
            <a:pPr algn="l">
              <a:defRPr sz="1500" b="0" i="0">
                <a:solidFill>
                  <a:srgbClr val="333333"/>
                </a:solidFill>
                <a:latin typeface="Calibri"/>
              </a:defRPr>
            </a:pPr>
            <a:r>
              <a:t>Corporate clients onboarded faster with the same team, and every ownership decision can be shown to a regulator, document by document.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56032"/>
            <a:ext cx="10972800" cy="640080"/>
          </a:xfrm>
          <a:prstGeom prst="rect">
            <a:avLst/>
          </a:prstGeom>
          <a:noFill/>
        </p:spPr>
        <p:txBody>
          <a:bodyPr wrap="square">
            <a:spAutoFit/>
          </a:bodyPr>
          <a:lstStyle/>
          <a:p>
            <a:pPr algn="l">
              <a:defRPr sz="3000" b="1" i="0">
                <a:solidFill>
                  <a:srgbClr val="001E96"/>
                </a:solidFill>
                <a:latin typeface="Calibri"/>
              </a:defRPr>
            </a:pPr>
            <a:r>
              <a:t>What Both of Those Workflows Stand On</a:t>
            </a:r>
          </a:p>
        </p:txBody>
      </p:sp>
      <p:sp>
        <p:nvSpPr>
          <p:cNvPr id="3" name="TextBox 2"/>
          <p:cNvSpPr txBox="1"/>
          <p:nvPr/>
        </p:nvSpPr>
        <p:spPr>
          <a:xfrm>
            <a:off x="658368" y="896112"/>
            <a:ext cx="10972800" cy="365760"/>
          </a:xfrm>
          <a:prstGeom prst="rect">
            <a:avLst/>
          </a:prstGeom>
          <a:noFill/>
        </p:spPr>
        <p:txBody>
          <a:bodyPr wrap="square">
            <a:spAutoFit/>
          </a:bodyPr>
          <a:lstStyle/>
          <a:p>
            <a:pPr algn="l">
              <a:defRPr sz="1300" b="1" i="0">
                <a:solidFill>
                  <a:srgbClr val="426BB4"/>
                </a:solidFill>
                <a:latin typeface="Calibri"/>
              </a:defRPr>
            </a:pPr>
            <a:r>
              <a:t>DOCUMENTS AND STATE. DESIGNED, BUILT AND STILL OWNED IN PRODUCTION</a:t>
            </a:r>
          </a:p>
        </p:txBody>
      </p:sp>
      <p:sp>
        <p:nvSpPr>
          <p:cNvPr id="4" name="Rounded Rectangle 3"/>
          <p:cNvSpPr/>
          <p:nvPr/>
        </p:nvSpPr>
        <p:spPr>
          <a:xfrm>
            <a:off x="640080" y="1371600"/>
            <a:ext cx="6858000" cy="54864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700" b="1">
                <a:solidFill>
                  <a:srgbClr val="FFFFFF"/>
                </a:solidFill>
                <a:latin typeface="Calibri"/>
              </a:defRPr>
            </a:pPr>
            <a:r>
              <a:t>Documents and the State Machine</a:t>
            </a:r>
          </a:p>
        </p:txBody>
      </p:sp>
      <p:sp>
        <p:nvSpPr>
          <p:cNvPr id="5" name="TextBox 4"/>
          <p:cNvSpPr txBox="1"/>
          <p:nvPr/>
        </p:nvSpPr>
        <p:spPr>
          <a:xfrm>
            <a:off x="822960" y="2057400"/>
            <a:ext cx="6583680" cy="2194560"/>
          </a:xfrm>
          <a:prstGeom prst="rect">
            <a:avLst/>
          </a:prstGeom>
          <a:noFill/>
        </p:spPr>
        <p:txBody>
          <a:bodyPr wrap="square">
            <a:spAutoFit/>
          </a:bodyPr>
          <a:lstStyle/>
          <a:p>
            <a:pPr>
              <a:spcBef>
                <a:spcPts val="800"/>
              </a:spcBef>
              <a:defRPr sz="1500" b="0">
                <a:solidFill>
                  <a:srgbClr val="333333"/>
                </a:solidFill>
                <a:latin typeface="Calibri"/>
              </a:defRPr>
            </a:pPr>
            <a:r>
              <a:t>Analysts linked documents to compliance questions by hand. I automated it</a:t>
            </a:r>
          </a:p>
          <a:p>
            <a:pPr>
              <a:spcBef>
                <a:spcPts val="800"/>
              </a:spcBef>
              <a:defRPr sz="1500" b="0">
                <a:solidFill>
                  <a:srgbClr val="333333"/>
                </a:solidFill>
                <a:latin typeface="Calibri"/>
              </a:defRPr>
            </a:pPr>
            <a:r>
              <a:t>I automated the unlinking too, when a newer document supersedes an older one. A missing document is visible. A stale one still looks current to an auditor</a:t>
            </a:r>
          </a:p>
          <a:p>
            <a:pPr>
              <a:spcBef>
                <a:spcPts val="800"/>
              </a:spcBef>
              <a:defRPr sz="1500" b="0">
                <a:solidFill>
                  <a:srgbClr val="333333"/>
                </a:solidFill>
                <a:latin typeface="Calibri"/>
              </a:defRPr>
            </a:pPr>
            <a:r>
              <a:t>My state machine works out where every question and every document stands</a:t>
            </a:r>
          </a:p>
          <a:p>
            <a:pPr>
              <a:spcBef>
                <a:spcPts val="800"/>
              </a:spcBef>
              <a:defRPr sz="1500" b="0">
                <a:solidFill>
                  <a:srgbClr val="333333"/>
                </a:solidFill>
                <a:latin typeface="Calibri"/>
              </a:defRPr>
            </a:pPr>
            <a:r>
              <a:t>Both AI workflows only see work it released, and only trust documents it marked good</a:t>
            </a:r>
          </a:p>
        </p:txBody>
      </p:sp>
      <p:sp>
        <p:nvSpPr>
          <p:cNvPr id="6" name="Rounded Rectangle 5"/>
          <p:cNvSpPr/>
          <p:nvPr/>
        </p:nvSpPr>
        <p:spPr>
          <a:xfrm>
            <a:off x="7680960" y="1371600"/>
            <a:ext cx="3886200" cy="54864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700" b="1">
                <a:solidFill>
                  <a:srgbClr val="FFFFFF"/>
                </a:solidFill>
                <a:latin typeface="Calibri"/>
              </a:defRPr>
            </a:pPr>
            <a:r>
              <a:t>Messaging</a:t>
            </a:r>
          </a:p>
        </p:txBody>
      </p:sp>
      <p:sp>
        <p:nvSpPr>
          <p:cNvPr id="7" name="TextBox 6"/>
          <p:cNvSpPr txBox="1"/>
          <p:nvPr/>
        </p:nvSpPr>
        <p:spPr>
          <a:xfrm>
            <a:off x="7863840" y="2057400"/>
            <a:ext cx="3611880" cy="2194560"/>
          </a:xfrm>
          <a:prstGeom prst="rect">
            <a:avLst/>
          </a:prstGeom>
          <a:noFill/>
        </p:spPr>
        <p:txBody>
          <a:bodyPr wrap="square">
            <a:spAutoFit/>
          </a:bodyPr>
          <a:lstStyle/>
          <a:p>
            <a:pPr>
              <a:spcBef>
                <a:spcPts val="800"/>
              </a:spcBef>
              <a:defRPr sz="1500" b="0">
                <a:solidFill>
                  <a:srgbClr val="333333"/>
                </a:solidFill>
                <a:latin typeface="Calibri"/>
              </a:defRPr>
            </a:pPr>
            <a:r>
              <a:t>The old infrastructure could not cope. Analysts waited 30 to 60 minutes</a:t>
            </a:r>
          </a:p>
          <a:p>
            <a:pPr>
              <a:spcBef>
                <a:spcPts val="800"/>
              </a:spcBef>
              <a:defRPr sz="1500" b="0">
                <a:solidFill>
                  <a:srgbClr val="333333"/>
                </a:solidFill>
                <a:latin typeface="Calibri"/>
              </a:defRPr>
            </a:pPr>
            <a:r>
              <a:t>I designed a new messaging library, including automatic retry when a message fails</a:t>
            </a:r>
          </a:p>
          <a:p>
            <a:pPr>
              <a:spcBef>
                <a:spcPts val="800"/>
              </a:spcBef>
              <a:defRPr sz="1500" b="0">
                <a:solidFill>
                  <a:srgbClr val="333333"/>
                </a:solidFill>
                <a:latin typeface="Calibri"/>
              </a:defRPr>
            </a:pPr>
            <a:r>
              <a:t>The same work now completes in seconds</a:t>
            </a:r>
          </a:p>
        </p:txBody>
      </p:sp>
      <p:sp>
        <p:nvSpPr>
          <p:cNvPr id="8" name="Rounded Rectangle 7"/>
          <p:cNvSpPr/>
          <p:nvPr/>
        </p:nvSpPr>
        <p:spPr>
          <a:xfrm>
            <a:off x="640080" y="4434840"/>
            <a:ext cx="26060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100" b="1">
                <a:solidFill>
                  <a:srgbClr val="FFFFFF"/>
                </a:solidFill>
                <a:latin typeface="Calibri"/>
              </a:defRPr>
            </a:pPr>
            <a:r>
              <a:t>€5 million</a:t>
            </a:r>
          </a:p>
          <a:p>
            <a:pPr algn="ctr">
              <a:defRPr sz="1300">
                <a:solidFill>
                  <a:srgbClr val="CCCCFF"/>
                </a:solidFill>
                <a:latin typeface="Calibri"/>
              </a:defRPr>
            </a:pPr>
            <a:r>
              <a:t>Savings contributed to</a:t>
            </a:r>
          </a:p>
        </p:txBody>
      </p:sp>
      <p:sp>
        <p:nvSpPr>
          <p:cNvPr id="9" name="Rounded Rectangle 8"/>
          <p:cNvSpPr/>
          <p:nvPr/>
        </p:nvSpPr>
        <p:spPr>
          <a:xfrm>
            <a:off x="3429000" y="4434840"/>
            <a:ext cx="26060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100" b="1">
                <a:solidFill>
                  <a:srgbClr val="FFFFFF"/>
                </a:solidFill>
                <a:latin typeface="Calibri"/>
              </a:defRPr>
            </a:pPr>
            <a:r>
              <a:t>40,000+</a:t>
            </a:r>
          </a:p>
          <a:p>
            <a:pPr algn="ctr">
              <a:defRPr sz="1300">
                <a:solidFill>
                  <a:srgbClr val="CCCCFF"/>
                </a:solidFill>
                <a:latin typeface="Calibri"/>
              </a:defRPr>
            </a:pPr>
            <a:r>
              <a:t>Document operations automated</a:t>
            </a:r>
          </a:p>
        </p:txBody>
      </p:sp>
      <p:sp>
        <p:nvSpPr>
          <p:cNvPr id="10" name="Rounded Rectangle 9"/>
          <p:cNvSpPr/>
          <p:nvPr/>
        </p:nvSpPr>
        <p:spPr>
          <a:xfrm>
            <a:off x="6217920" y="4434840"/>
            <a:ext cx="260604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Calibri"/>
              </a:defRPr>
            </a:pPr>
            <a:r>
              <a:t>30-60 min ➔ Seconds</a:t>
            </a:r>
          </a:p>
          <a:p>
            <a:pPr algn="ctr">
              <a:defRPr sz="1300">
                <a:solidFill>
                  <a:srgbClr val="CCCCFF"/>
                </a:solidFill>
                <a:latin typeface="Calibri"/>
              </a:defRPr>
            </a:pPr>
            <a:r>
              <a:t>Analyst wait time</a:t>
            </a:r>
          </a:p>
        </p:txBody>
      </p:sp>
      <p:sp>
        <p:nvSpPr>
          <p:cNvPr id="11" name="Rounded Rectangle 10"/>
          <p:cNvSpPr/>
          <p:nvPr/>
        </p:nvSpPr>
        <p:spPr>
          <a:xfrm>
            <a:off x="9006840" y="4434840"/>
            <a:ext cx="2560320" cy="114300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100" b="1">
                <a:solidFill>
                  <a:srgbClr val="FFFFFF"/>
                </a:solidFill>
                <a:latin typeface="Calibri"/>
              </a:defRPr>
            </a:pPr>
            <a:r>
              <a:t>1 million a day</a:t>
            </a:r>
          </a:p>
          <a:p>
            <a:pPr algn="ctr">
              <a:defRPr sz="1300">
                <a:solidFill>
                  <a:srgbClr val="CCCCFF"/>
                </a:solidFill>
                <a:latin typeface="Calibri"/>
              </a:defRPr>
            </a:pPr>
            <a:r>
              <a:t>Messages processed</a:t>
            </a:r>
          </a:p>
        </p:txBody>
      </p:sp>
      <p:sp>
        <p:nvSpPr>
          <p:cNvPr id="12" name="TextBox 11"/>
          <p:cNvSpPr txBox="1"/>
          <p:nvPr/>
        </p:nvSpPr>
        <p:spPr>
          <a:xfrm>
            <a:off x="640080" y="5806440"/>
            <a:ext cx="10927080" cy="548640"/>
          </a:xfrm>
          <a:prstGeom prst="rect">
            <a:avLst/>
          </a:prstGeom>
          <a:noFill/>
        </p:spPr>
        <p:txBody>
          <a:bodyPr wrap="square">
            <a:spAutoFit/>
          </a:bodyPr>
          <a:lstStyle/>
          <a:p>
            <a:pPr algn="l">
              <a:defRPr sz="1500" b="0" i="1">
                <a:solidFill>
                  <a:srgbClr val="426BB4"/>
                </a:solidFill>
                <a:latin typeface="Calibri"/>
              </a:defRPr>
            </a:pPr>
            <a:r>
              <a:t>I do not build and walk away. I still own the document platform in production and fix any issue that comes 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56032"/>
            <a:ext cx="10972800" cy="640080"/>
          </a:xfrm>
          <a:prstGeom prst="rect">
            <a:avLst/>
          </a:prstGeom>
          <a:noFill/>
        </p:spPr>
        <p:txBody>
          <a:bodyPr wrap="square">
            <a:spAutoFit/>
          </a:bodyPr>
          <a:lstStyle/>
          <a:p>
            <a:pPr algn="l">
              <a:defRPr sz="3000" b="1" i="0">
                <a:solidFill>
                  <a:srgbClr val="001E96"/>
                </a:solidFill>
                <a:latin typeface="Calibri"/>
              </a:defRPr>
            </a:pPr>
            <a:r>
              <a:t>Beyond My Team</a:t>
            </a:r>
          </a:p>
        </p:txBody>
      </p:sp>
      <p:sp>
        <p:nvSpPr>
          <p:cNvPr id="3" name="TextBox 2"/>
          <p:cNvSpPr txBox="1"/>
          <p:nvPr/>
        </p:nvSpPr>
        <p:spPr>
          <a:xfrm>
            <a:off x="658368" y="896112"/>
            <a:ext cx="10972800" cy="365760"/>
          </a:xfrm>
          <a:prstGeom prst="rect">
            <a:avLst/>
          </a:prstGeom>
          <a:noFill/>
        </p:spPr>
        <p:txBody>
          <a:bodyPr wrap="square">
            <a:spAutoFit/>
          </a:bodyPr>
          <a:lstStyle/>
          <a:p>
            <a:pPr algn="l">
              <a:defRPr sz="1300" b="1" i="0">
                <a:solidFill>
                  <a:srgbClr val="426BB4"/>
                </a:solidFill>
                <a:latin typeface="Calibri"/>
              </a:defRPr>
            </a:pPr>
            <a:r>
              <a:t>REUSE, CULTURE AND CONTRIBUTION OUTSIDE THE DAY JOB</a:t>
            </a:r>
          </a:p>
        </p:txBody>
      </p:sp>
      <p:sp>
        <p:nvSpPr>
          <p:cNvPr id="4" name="Rounded Rectangle 3"/>
          <p:cNvSpPr/>
          <p:nvPr/>
        </p:nvSpPr>
        <p:spPr>
          <a:xfrm>
            <a:off x="640080" y="1417320"/>
            <a:ext cx="3657600" cy="54864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700" b="1">
                <a:solidFill>
                  <a:srgbClr val="FFFFFF"/>
                </a:solidFill>
                <a:latin typeface="Calibri"/>
              </a:defRPr>
            </a:pPr>
            <a:r>
              <a:t>Industry Contribution</a:t>
            </a:r>
          </a:p>
        </p:txBody>
      </p:sp>
      <p:sp>
        <p:nvSpPr>
          <p:cNvPr id="5" name="TextBox 4"/>
          <p:cNvSpPr txBox="1"/>
          <p:nvPr/>
        </p:nvSpPr>
        <p:spPr>
          <a:xfrm>
            <a:off x="822959" y="2148840"/>
            <a:ext cx="3291840" cy="2834640"/>
          </a:xfrm>
          <a:prstGeom prst="rect">
            <a:avLst/>
          </a:prstGeom>
          <a:noFill/>
        </p:spPr>
        <p:txBody>
          <a:bodyPr wrap="square">
            <a:spAutoFit/>
          </a:bodyPr>
          <a:lstStyle/>
          <a:p>
            <a:pPr>
              <a:spcBef>
                <a:spcPts val="800"/>
              </a:spcBef>
              <a:defRPr sz="1400" b="0">
                <a:solidFill>
                  <a:srgbClr val="333333"/>
                </a:solidFill>
                <a:latin typeface="Calibri"/>
              </a:defRPr>
            </a:pPr>
            <a:r>
              <a:t>Contributed a new module to LangChain4j, the open source Java AI framework</a:t>
            </a:r>
          </a:p>
          <a:p>
            <a:pPr>
              <a:spcBef>
                <a:spcPts val="800"/>
              </a:spcBef>
              <a:defRPr sz="1400" b="0">
                <a:solidFill>
                  <a:srgbClr val="333333"/>
                </a:solidFill>
                <a:latin typeface="Calibri"/>
              </a:defRPr>
            </a:pPr>
            <a:r>
              <a:t>The same framework our AI platform is built on</a:t>
            </a:r>
          </a:p>
          <a:p>
            <a:pPr>
              <a:spcBef>
                <a:spcPts val="800"/>
              </a:spcBef>
              <a:defRPr sz="1400" b="0">
                <a:solidFill>
                  <a:srgbClr val="333333"/>
                </a:solidFill>
                <a:latin typeface="Calibri"/>
              </a:defRPr>
            </a:pPr>
            <a:r>
              <a:t>Giving back to the community we depend on</a:t>
            </a:r>
          </a:p>
        </p:txBody>
      </p:sp>
      <p:sp>
        <p:nvSpPr>
          <p:cNvPr id="6" name="Rounded Rectangle 5"/>
          <p:cNvSpPr/>
          <p:nvPr/>
        </p:nvSpPr>
        <p:spPr>
          <a:xfrm>
            <a:off x="4434840" y="1417320"/>
            <a:ext cx="3657600" cy="54864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700" b="1">
                <a:solidFill>
                  <a:srgbClr val="FFFFFF"/>
                </a:solidFill>
                <a:latin typeface="Calibri"/>
              </a:defRPr>
            </a:pPr>
            <a:r>
              <a:t>Driving Re-use</a:t>
            </a:r>
          </a:p>
        </p:txBody>
      </p:sp>
      <p:sp>
        <p:nvSpPr>
          <p:cNvPr id="7" name="TextBox 6"/>
          <p:cNvSpPr txBox="1"/>
          <p:nvPr/>
        </p:nvSpPr>
        <p:spPr>
          <a:xfrm>
            <a:off x="4617720" y="2148840"/>
            <a:ext cx="3291840" cy="2834640"/>
          </a:xfrm>
          <a:prstGeom prst="rect">
            <a:avLst/>
          </a:prstGeom>
          <a:noFill/>
        </p:spPr>
        <p:txBody>
          <a:bodyPr wrap="square">
            <a:spAutoFit/>
          </a:bodyPr>
          <a:lstStyle/>
          <a:p>
            <a:pPr>
              <a:spcBef>
                <a:spcPts val="800"/>
              </a:spcBef>
              <a:defRPr sz="1400" b="0">
                <a:solidFill>
                  <a:srgbClr val="333333"/>
                </a:solidFill>
                <a:latin typeface="Calibri"/>
              </a:defRPr>
            </a:pPr>
            <a:r>
              <a:t>Messaging and retry libraries adopted across the business unit</a:t>
            </a:r>
          </a:p>
          <a:p>
            <a:pPr>
              <a:spcBef>
                <a:spcPts val="800"/>
              </a:spcBef>
              <a:defRPr sz="1400" b="0">
                <a:solidFill>
                  <a:srgbClr val="333333"/>
                </a:solidFill>
                <a:latin typeface="Calibri"/>
              </a:defRPr>
            </a:pPr>
            <a:r>
              <a:t>Nexus AI adopted unit-wide, now reviewed bank-wide</a:t>
            </a:r>
          </a:p>
          <a:p>
            <a:pPr>
              <a:spcBef>
                <a:spcPts val="800"/>
              </a:spcBef>
              <a:defRPr sz="1400" b="0">
                <a:solidFill>
                  <a:srgbClr val="333333"/>
                </a:solidFill>
                <a:latin typeface="Calibri"/>
              </a:defRPr>
            </a:pPr>
            <a:r>
              <a:t>Shared coding standards, now the default in every service</a:t>
            </a:r>
          </a:p>
        </p:txBody>
      </p:sp>
      <p:sp>
        <p:nvSpPr>
          <p:cNvPr id="8" name="Rounded Rectangle 7"/>
          <p:cNvSpPr/>
          <p:nvPr/>
        </p:nvSpPr>
        <p:spPr>
          <a:xfrm>
            <a:off x="8229600" y="1417320"/>
            <a:ext cx="3337560" cy="548640"/>
          </a:xfrm>
          <a:prstGeom prst="roundRect">
            <a:avLst/>
          </a:prstGeom>
          <a:solidFill>
            <a:srgbClr val="001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defRPr sz="1700" b="1">
                <a:solidFill>
                  <a:srgbClr val="FFFFFF"/>
                </a:solidFill>
                <a:latin typeface="Calibri"/>
              </a:defRPr>
            </a:pPr>
            <a:r>
              <a:t>Building the Culture</a:t>
            </a:r>
          </a:p>
        </p:txBody>
      </p:sp>
      <p:sp>
        <p:nvSpPr>
          <p:cNvPr id="9" name="TextBox 8"/>
          <p:cNvSpPr txBox="1"/>
          <p:nvPr/>
        </p:nvSpPr>
        <p:spPr>
          <a:xfrm>
            <a:off x="8412480" y="2148840"/>
            <a:ext cx="2971800" cy="2834640"/>
          </a:xfrm>
          <a:prstGeom prst="rect">
            <a:avLst/>
          </a:prstGeom>
          <a:noFill/>
        </p:spPr>
        <p:txBody>
          <a:bodyPr wrap="square">
            <a:spAutoFit/>
          </a:bodyPr>
          <a:lstStyle/>
          <a:p>
            <a:pPr>
              <a:spcBef>
                <a:spcPts val="800"/>
              </a:spcBef>
              <a:defRPr sz="1400" b="0">
                <a:solidFill>
                  <a:srgbClr val="333333"/>
                </a:solidFill>
                <a:latin typeface="Calibri"/>
              </a:defRPr>
            </a:pPr>
            <a:r>
              <a:t>2024 Deutsche Bank Hackathon, participant</a:t>
            </a:r>
          </a:p>
          <a:p>
            <a:pPr>
              <a:spcBef>
                <a:spcPts val="800"/>
              </a:spcBef>
              <a:defRPr sz="1400" b="0">
                <a:solidFill>
                  <a:srgbClr val="333333"/>
                </a:solidFill>
                <a:latin typeface="Calibri"/>
              </a:defRPr>
            </a:pPr>
            <a:r>
              <a:t>2025 Deutsche Bank Hackathon, team lead</a:t>
            </a:r>
          </a:p>
          <a:p>
            <a:pPr>
              <a:spcBef>
                <a:spcPts val="800"/>
              </a:spcBef>
              <a:defRPr sz="1400" b="0">
                <a:solidFill>
                  <a:srgbClr val="333333"/>
                </a:solidFill>
                <a:latin typeface="Calibri"/>
              </a:defRPr>
            </a:pPr>
            <a:r>
              <a:t>2026 environmental sustainability initiative</a:t>
            </a:r>
          </a:p>
          <a:p>
            <a:pPr>
              <a:spcBef>
                <a:spcPts val="800"/>
              </a:spcBef>
              <a:defRPr sz="1400" b="0">
                <a:solidFill>
                  <a:srgbClr val="333333"/>
                </a:solidFill>
                <a:latin typeface="Calibri"/>
              </a:defRPr>
            </a:pPr>
            <a:r>
              <a:t>Mentor engineers through pairing and code review</a:t>
            </a:r>
          </a:p>
        </p:txBody>
      </p:sp>
      <p:sp>
        <p:nvSpPr>
          <p:cNvPr id="10" name="Rounded Rectangle 9"/>
          <p:cNvSpPr/>
          <p:nvPr/>
        </p:nvSpPr>
        <p:spPr>
          <a:xfrm>
            <a:off x="640080" y="5303520"/>
            <a:ext cx="10927080" cy="1234440"/>
          </a:xfrm>
          <a:prstGeom prst="roundRect">
            <a:avLst/>
          </a:prstGeom>
          <a:solidFill>
            <a:srgbClr val="E8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486400"/>
            <a:ext cx="10515600" cy="914400"/>
          </a:xfrm>
          <a:prstGeom prst="rect">
            <a:avLst/>
          </a:prstGeom>
          <a:noFill/>
        </p:spPr>
        <p:txBody>
          <a:bodyPr wrap="square">
            <a:spAutoFit/>
          </a:bodyPr>
          <a:lstStyle/>
          <a:p>
            <a:pPr algn="l">
              <a:defRPr sz="1600" b="1" i="0">
                <a:solidFill>
                  <a:srgbClr val="001E96"/>
                </a:solidFill>
                <a:latin typeface="Calibri"/>
              </a:defRPr>
            </a:pPr>
            <a:r>
              <a:t>Two years ago the business unit had no AI capability at all. Today it has two workflows in production, both running on a framework I built, and one of them is on the front page of the bank's internal news.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27080" cy="822960"/>
          </a:xfrm>
          <a:prstGeom prst="rect">
            <a:avLst/>
          </a:prstGeom>
          <a:noFill/>
        </p:spPr>
        <p:txBody>
          <a:bodyPr wrap="square">
            <a:spAutoFit/>
          </a:bodyPr>
          <a:lstStyle/>
          <a:p>
            <a:pPr algn="ctr">
              <a:defRPr sz="4200" b="1" i="0">
                <a:solidFill>
                  <a:srgbClr val="001E96"/>
                </a:solidFill>
                <a:latin typeface="Calibri"/>
              </a:defRPr>
            </a:pPr>
            <a:r>
              <a:t>Thank You</a:t>
            </a:r>
          </a:p>
        </p:txBody>
      </p:sp>
      <p:sp>
        <p:nvSpPr>
          <p:cNvPr id="3" name="Rectangle 2"/>
          <p:cNvSpPr/>
          <p:nvPr/>
        </p:nvSpPr>
        <p:spPr>
          <a:xfrm>
            <a:off x="4937760" y="1234440"/>
            <a:ext cx="2286000" cy="36576"/>
          </a:xfrm>
          <a:prstGeom prst="rect">
            <a:avLst/>
          </a:prstGeom>
          <a:solidFill>
            <a:srgbClr val="426B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27080" cy="411480"/>
          </a:xfrm>
          <a:prstGeom prst="rect">
            <a:avLst/>
          </a:prstGeom>
          <a:noFill/>
        </p:spPr>
        <p:txBody>
          <a:bodyPr wrap="square">
            <a:spAutoFit/>
          </a:bodyPr>
          <a:lstStyle/>
          <a:p>
            <a:pPr algn="ctr">
              <a:defRPr sz="1700" b="0" i="0">
                <a:solidFill>
                  <a:srgbClr val="555555"/>
                </a:solidFill>
                <a:latin typeface="Calibri"/>
              </a:defRPr>
            </a:pPr>
            <a:r>
              <a:t>Akshay Dipta  |  Senior Engineer  |  London Cadbury Team, London</a:t>
            </a:r>
          </a:p>
        </p:txBody>
      </p:sp>
      <p:sp>
        <p:nvSpPr>
          <p:cNvPr id="5" name="TextBox 4"/>
          <p:cNvSpPr txBox="1"/>
          <p:nvPr/>
        </p:nvSpPr>
        <p:spPr>
          <a:xfrm>
            <a:off x="640080" y="1828800"/>
            <a:ext cx="10927080" cy="365760"/>
          </a:xfrm>
          <a:prstGeom prst="rect">
            <a:avLst/>
          </a:prstGeom>
          <a:noFill/>
        </p:spPr>
        <p:txBody>
          <a:bodyPr wrap="square">
            <a:spAutoFit/>
          </a:bodyPr>
          <a:lstStyle/>
          <a:p>
            <a:pPr algn="ctr">
              <a:defRPr sz="1600" b="1" i="0">
                <a:solidFill>
                  <a:srgbClr val="001E96"/>
                </a:solidFill>
                <a:latin typeface="Calibri"/>
              </a:defRPr>
            </a:pPr>
            <a:r>
              <a:t>Sponsors and Endorsements</a:t>
            </a:r>
          </a:p>
        </p:txBody>
      </p:sp>
      <p:sp>
        <p:nvSpPr>
          <p:cNvPr id="6" name="Rounded Rectangle 5"/>
          <p:cNvSpPr/>
          <p:nvPr/>
        </p:nvSpPr>
        <p:spPr>
          <a:xfrm>
            <a:off x="502920" y="2331720"/>
            <a:ext cx="2697480" cy="402336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468880"/>
            <a:ext cx="2423160" cy="365760"/>
          </a:xfrm>
          <a:prstGeom prst="rect">
            <a:avLst/>
          </a:prstGeom>
          <a:noFill/>
        </p:spPr>
        <p:txBody>
          <a:bodyPr wrap="square">
            <a:spAutoFit/>
          </a:bodyPr>
          <a:lstStyle/>
          <a:p>
            <a:pPr algn="l">
              <a:defRPr sz="1700" b="1" i="0">
                <a:solidFill>
                  <a:srgbClr val="001E96"/>
                </a:solidFill>
                <a:latin typeface="Calibri"/>
              </a:defRPr>
            </a:pPr>
            <a:r>
              <a:t>Marco Luebbers</a:t>
            </a:r>
          </a:p>
        </p:txBody>
      </p:sp>
      <p:sp>
        <p:nvSpPr>
          <p:cNvPr id="8" name="TextBox 7"/>
          <p:cNvSpPr txBox="1"/>
          <p:nvPr/>
        </p:nvSpPr>
        <p:spPr>
          <a:xfrm>
            <a:off x="640080" y="2834640"/>
            <a:ext cx="2423160" cy="548640"/>
          </a:xfrm>
          <a:prstGeom prst="rect">
            <a:avLst/>
          </a:prstGeom>
          <a:noFill/>
        </p:spPr>
        <p:txBody>
          <a:bodyPr wrap="square">
            <a:spAutoFit/>
          </a:bodyPr>
          <a:lstStyle/>
          <a:p>
            <a:pPr algn="l">
              <a:defRPr sz="1300" b="1" i="0">
                <a:solidFill>
                  <a:srgbClr val="426BB4"/>
                </a:solidFill>
                <a:latin typeface="Calibri"/>
              </a:defRPr>
            </a:pPr>
            <a:r>
              <a:t>Managing Director</a:t>
            </a:r>
          </a:p>
        </p:txBody>
      </p:sp>
      <p:sp>
        <p:nvSpPr>
          <p:cNvPr id="9" name="TextBox 8"/>
          <p:cNvSpPr txBox="1"/>
          <p:nvPr/>
        </p:nvSpPr>
        <p:spPr>
          <a:xfrm>
            <a:off x="640080" y="3429000"/>
            <a:ext cx="2423160" cy="2743200"/>
          </a:xfrm>
          <a:prstGeom prst="rect">
            <a:avLst/>
          </a:prstGeom>
          <a:noFill/>
        </p:spPr>
        <p:txBody>
          <a:bodyPr wrap="square">
            <a:spAutoFit/>
          </a:bodyPr>
          <a:lstStyle/>
          <a:p>
            <a:pPr>
              <a:spcBef>
                <a:spcPts val="600"/>
              </a:spcBef>
              <a:defRPr sz="1200" b="0">
                <a:solidFill>
                  <a:srgbClr val="333333"/>
                </a:solidFill>
                <a:latin typeface="Calibri"/>
              </a:defRPr>
            </a:pPr>
            <a:r>
              <a:t>Head of Know Your Customer Operations Steering and Perimeter Governance</a:t>
            </a:r>
          </a:p>
          <a:p>
            <a:pPr>
              <a:spcBef>
                <a:spcPts val="600"/>
              </a:spcBef>
              <a:defRPr sz="1200" b="0">
                <a:solidFill>
                  <a:srgbClr val="333333"/>
                </a:solidFill>
                <a:latin typeface="Calibri"/>
              </a:defRPr>
            </a:pPr>
            <a:r>
              <a:t>Presented the cost and savings analysis for this work to management</a:t>
            </a:r>
          </a:p>
          <a:p>
            <a:pPr>
              <a:spcBef>
                <a:spcPts val="600"/>
              </a:spcBef>
              <a:defRPr sz="1200" b="0">
                <a:solidFill>
                  <a:srgbClr val="333333"/>
                </a:solidFill>
                <a:latin typeface="Calibri"/>
              </a:defRPr>
            </a:pPr>
            <a:r>
              <a:t>(To be confirmed)</a:t>
            </a:r>
          </a:p>
        </p:txBody>
      </p:sp>
      <p:sp>
        <p:nvSpPr>
          <p:cNvPr id="10" name="Rounded Rectangle 9"/>
          <p:cNvSpPr/>
          <p:nvPr/>
        </p:nvSpPr>
        <p:spPr>
          <a:xfrm>
            <a:off x="3383280" y="2331720"/>
            <a:ext cx="2697480" cy="402336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468880"/>
            <a:ext cx="2423160" cy="365760"/>
          </a:xfrm>
          <a:prstGeom prst="rect">
            <a:avLst/>
          </a:prstGeom>
          <a:noFill/>
        </p:spPr>
        <p:txBody>
          <a:bodyPr wrap="square">
            <a:spAutoFit/>
          </a:bodyPr>
          <a:lstStyle/>
          <a:p>
            <a:pPr algn="l">
              <a:defRPr sz="1700" b="1" i="0">
                <a:solidFill>
                  <a:srgbClr val="001E96"/>
                </a:solidFill>
                <a:latin typeface="Calibri"/>
              </a:defRPr>
            </a:pPr>
            <a:r>
              <a:t>Tong Su</a:t>
            </a:r>
          </a:p>
        </p:txBody>
      </p:sp>
      <p:sp>
        <p:nvSpPr>
          <p:cNvPr id="12" name="TextBox 11"/>
          <p:cNvSpPr txBox="1"/>
          <p:nvPr/>
        </p:nvSpPr>
        <p:spPr>
          <a:xfrm>
            <a:off x="3520440" y="2834640"/>
            <a:ext cx="2423160" cy="548640"/>
          </a:xfrm>
          <a:prstGeom prst="rect">
            <a:avLst/>
          </a:prstGeom>
          <a:noFill/>
        </p:spPr>
        <p:txBody>
          <a:bodyPr wrap="square">
            <a:spAutoFit/>
          </a:bodyPr>
          <a:lstStyle/>
          <a:p>
            <a:pPr algn="l">
              <a:defRPr sz="1300" b="1" i="0">
                <a:solidFill>
                  <a:srgbClr val="426BB4"/>
                </a:solidFill>
                <a:latin typeface="Calibri"/>
              </a:defRPr>
            </a:pPr>
            <a:r>
              <a:t>Director, CTO Initiative Lead</a:t>
            </a:r>
          </a:p>
        </p:txBody>
      </p:sp>
      <p:sp>
        <p:nvSpPr>
          <p:cNvPr id="13" name="TextBox 12"/>
          <p:cNvSpPr txBox="1"/>
          <p:nvPr/>
        </p:nvSpPr>
        <p:spPr>
          <a:xfrm>
            <a:off x="3520440" y="3429000"/>
            <a:ext cx="2423160" cy="2743200"/>
          </a:xfrm>
          <a:prstGeom prst="rect">
            <a:avLst/>
          </a:prstGeom>
          <a:noFill/>
        </p:spPr>
        <p:txBody>
          <a:bodyPr wrap="square">
            <a:spAutoFit/>
          </a:bodyPr>
          <a:lstStyle/>
          <a:p>
            <a:pPr>
              <a:spcBef>
                <a:spcPts val="600"/>
              </a:spcBef>
              <a:defRPr sz="1200" b="0">
                <a:solidFill>
                  <a:srgbClr val="333333"/>
                </a:solidFill>
                <a:latin typeface="Calibri"/>
              </a:defRPr>
            </a:pPr>
            <a:r>
              <a:t>“One of the most outstanding software engineers I've had the pleasure to collaborate with. Consistent focus on building clean and reusable code that benefits not just our immediate project, but also the wider engineering community.”</a:t>
            </a:r>
          </a:p>
        </p:txBody>
      </p:sp>
      <p:sp>
        <p:nvSpPr>
          <p:cNvPr id="14" name="Rounded Rectangle 13"/>
          <p:cNvSpPr/>
          <p:nvPr/>
        </p:nvSpPr>
        <p:spPr>
          <a:xfrm>
            <a:off x="6263640" y="2331720"/>
            <a:ext cx="2697480" cy="402336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468880"/>
            <a:ext cx="2423160" cy="365760"/>
          </a:xfrm>
          <a:prstGeom prst="rect">
            <a:avLst/>
          </a:prstGeom>
          <a:noFill/>
        </p:spPr>
        <p:txBody>
          <a:bodyPr wrap="square">
            <a:spAutoFit/>
          </a:bodyPr>
          <a:lstStyle/>
          <a:p>
            <a:pPr algn="l">
              <a:defRPr sz="1700" b="1" i="0">
                <a:solidFill>
                  <a:srgbClr val="001E96"/>
                </a:solidFill>
                <a:latin typeface="Calibri"/>
              </a:defRPr>
            </a:pPr>
            <a:r>
              <a:t>Lalitha Lalwani</a:t>
            </a:r>
          </a:p>
        </p:txBody>
      </p:sp>
      <p:sp>
        <p:nvSpPr>
          <p:cNvPr id="16" name="TextBox 15"/>
          <p:cNvSpPr txBox="1"/>
          <p:nvPr/>
        </p:nvSpPr>
        <p:spPr>
          <a:xfrm>
            <a:off x="6400800" y="2834640"/>
            <a:ext cx="2423160" cy="548640"/>
          </a:xfrm>
          <a:prstGeom prst="rect">
            <a:avLst/>
          </a:prstGeom>
          <a:noFill/>
        </p:spPr>
        <p:txBody>
          <a:bodyPr wrap="square">
            <a:spAutoFit/>
          </a:bodyPr>
          <a:lstStyle/>
          <a:p>
            <a:pPr algn="l">
              <a:defRPr sz="1300" b="1" i="0">
                <a:solidFill>
                  <a:srgbClr val="426BB4"/>
                </a:solidFill>
                <a:latin typeface="Calibri"/>
              </a:defRPr>
            </a:pPr>
            <a:r>
              <a:t>Director, Architect, CTO Platform</a:t>
            </a:r>
          </a:p>
        </p:txBody>
      </p:sp>
      <p:sp>
        <p:nvSpPr>
          <p:cNvPr id="17" name="TextBox 16"/>
          <p:cNvSpPr txBox="1"/>
          <p:nvPr/>
        </p:nvSpPr>
        <p:spPr>
          <a:xfrm>
            <a:off x="6400800" y="3429000"/>
            <a:ext cx="2423160" cy="2743200"/>
          </a:xfrm>
          <a:prstGeom prst="rect">
            <a:avLst/>
          </a:prstGeom>
          <a:noFill/>
        </p:spPr>
        <p:txBody>
          <a:bodyPr wrap="square">
            <a:spAutoFit/>
          </a:bodyPr>
          <a:lstStyle/>
          <a:p>
            <a:pPr>
              <a:spcBef>
                <a:spcPts val="600"/>
              </a:spcBef>
              <a:defRPr sz="1200" b="0">
                <a:solidFill>
                  <a:srgbClr val="333333"/>
                </a:solidFill>
                <a:latin typeface="Calibri"/>
              </a:defRPr>
            </a:pPr>
            <a:r>
              <a:t>Worked with me directly on the AI initiative</a:t>
            </a:r>
          </a:p>
          <a:p>
            <a:pPr>
              <a:spcBef>
                <a:spcPts val="600"/>
              </a:spcBef>
              <a:defRPr sz="1200" b="0">
                <a:solidFill>
                  <a:srgbClr val="333333"/>
                </a:solidFill>
                <a:latin typeface="Calibri"/>
              </a:defRPr>
            </a:pPr>
            <a:r>
              <a:t>Observed end to end ownership of the AI framework, from research to production</a:t>
            </a:r>
          </a:p>
        </p:txBody>
      </p:sp>
      <p:sp>
        <p:nvSpPr>
          <p:cNvPr id="18" name="Rounded Rectangle 17"/>
          <p:cNvSpPr/>
          <p:nvPr/>
        </p:nvSpPr>
        <p:spPr>
          <a:xfrm>
            <a:off x="9144000" y="2331720"/>
            <a:ext cx="2697480" cy="402336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2468880"/>
            <a:ext cx="2423160" cy="365760"/>
          </a:xfrm>
          <a:prstGeom prst="rect">
            <a:avLst/>
          </a:prstGeom>
          <a:noFill/>
        </p:spPr>
        <p:txBody>
          <a:bodyPr wrap="square">
            <a:spAutoFit/>
          </a:bodyPr>
          <a:lstStyle/>
          <a:p>
            <a:pPr algn="l">
              <a:defRPr sz="1700" b="1" i="0">
                <a:solidFill>
                  <a:srgbClr val="001E96"/>
                </a:solidFill>
                <a:latin typeface="Calibri"/>
              </a:defRPr>
            </a:pPr>
            <a:r>
              <a:t>Chris Ashley</a:t>
            </a:r>
          </a:p>
        </p:txBody>
      </p:sp>
      <p:sp>
        <p:nvSpPr>
          <p:cNvPr id="20" name="TextBox 19"/>
          <p:cNvSpPr txBox="1"/>
          <p:nvPr/>
        </p:nvSpPr>
        <p:spPr>
          <a:xfrm>
            <a:off x="9281160" y="2834640"/>
            <a:ext cx="2423160" cy="548640"/>
          </a:xfrm>
          <a:prstGeom prst="rect">
            <a:avLst/>
          </a:prstGeom>
          <a:noFill/>
        </p:spPr>
        <p:txBody>
          <a:bodyPr wrap="square">
            <a:spAutoFit/>
          </a:bodyPr>
          <a:lstStyle/>
          <a:p>
            <a:pPr algn="l">
              <a:defRPr sz="1300" b="1" i="0">
                <a:solidFill>
                  <a:srgbClr val="426BB4"/>
                </a:solidFill>
                <a:latin typeface="Calibri"/>
              </a:defRPr>
            </a:pPr>
            <a:r>
              <a:t>Director, Conduct and Control Risk</a:t>
            </a:r>
          </a:p>
        </p:txBody>
      </p:sp>
      <p:sp>
        <p:nvSpPr>
          <p:cNvPr id="21" name="TextBox 20"/>
          <p:cNvSpPr txBox="1"/>
          <p:nvPr/>
        </p:nvSpPr>
        <p:spPr>
          <a:xfrm>
            <a:off x="9281160" y="3429000"/>
            <a:ext cx="2423160" cy="2743200"/>
          </a:xfrm>
          <a:prstGeom prst="rect">
            <a:avLst/>
          </a:prstGeom>
          <a:noFill/>
        </p:spPr>
        <p:txBody>
          <a:bodyPr wrap="square">
            <a:spAutoFit/>
          </a:bodyPr>
          <a:lstStyle/>
          <a:p>
            <a:pPr>
              <a:spcBef>
                <a:spcPts val="600"/>
              </a:spcBef>
              <a:defRPr sz="1200" b="0">
                <a:solidFill>
                  <a:srgbClr val="333333"/>
                </a:solidFill>
                <a:latin typeface="Calibri"/>
              </a:defRPr>
            </a:pPr>
            <a:r>
              <a:t>Corporate Bank and Investment Bank, Operations and Controls</a:t>
            </a:r>
          </a:p>
          <a:p>
            <a:pPr>
              <a:spcBef>
                <a:spcPts val="600"/>
              </a:spcBef>
              <a:defRPr sz="1200" b="0">
                <a:solidFill>
                  <a:srgbClr val="333333"/>
                </a:solidFill>
                <a:latin typeface="Calibri"/>
              </a:defRPr>
            </a:pPr>
            <a:r>
              <a:t>Worked with me on the initial build of the documents and validity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